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62"/>
        </a:solidFill>
      </p:bgPr>
    </p:bg>
    <p:spTree>
      <p:nvGrpSpPr>
        <p:cNvPr id="1" name=""/>
        <p:cNvGrpSpPr/>
        <p:nvPr/>
      </p:nvGrpSpPr>
      <p:grpSpPr>
        <a:xfrm>
          <a:off x="0" y="0"/>
          <a:ext cx="0" cy="0"/>
          <a:chOff x="0" y="0"/>
          <a:chExt cx="0" cy="0"/>
        </a:xfrm>
      </p:grpSpPr>
      <p:sp>
        <p:nvSpPr>
          <p:cNvPr id="2" name="Shape 0"/>
          <p:cNvSpPr/>
          <p:nvPr/>
        </p:nvSpPr>
        <p:spPr>
          <a:xfrm>
            <a:off x="9418320" y="-1463040"/>
            <a:ext cx="5029200" cy="5029200"/>
          </a:xfrm>
          <a:prstGeom prst="ellipse">
            <a:avLst/>
          </a:prstGeom>
          <a:solidFill>
            <a:srgbClr val="082C48"/>
          </a:solidFill>
          <a:ln/>
        </p:spPr>
      </p:sp>
      <p:sp>
        <p:nvSpPr>
          <p:cNvPr id="3" name="Shape 1"/>
          <p:cNvSpPr/>
          <p:nvPr/>
        </p:nvSpPr>
        <p:spPr>
          <a:xfrm>
            <a:off x="-1645920" y="4572000"/>
            <a:ext cx="4114800" cy="4114800"/>
          </a:xfrm>
          <a:prstGeom prst="ellipse">
            <a:avLst/>
          </a:prstGeom>
          <a:solidFill>
            <a:srgbClr val="082C48"/>
          </a:solidFill>
          <a:ln/>
        </p:spPr>
      </p:sp>
      <p:sp>
        <p:nvSpPr>
          <p:cNvPr id="4" name="Text 2"/>
          <p:cNvSpPr txBox="1"/>
          <p:nvPr/>
        </p:nvSpPr>
        <p:spPr>
          <a:xfrm>
            <a:off x="731520" y="640080"/>
            <a:ext cx="7315200" cy="365760"/>
          </a:xfrm>
          <a:prstGeom prst="rect">
            <a:avLst/>
          </a:prstGeom>
          <a:noFill/>
          <a:ln/>
        </p:spPr>
        <p:txBody>
          <a:bodyPr wrap="square" lIns="0" tIns="0" rIns="0" bIns="0" rtlCol="0" anchor="ctr"/>
          <a:lstStyle/>
          <a:p>
            <a:pPr indent="0" marL="0">
              <a:buNone/>
            </a:pPr>
            <a:r>
              <a:rPr lang="en-US" sz="1300" b="1" spc="200" kern="0" dirty="0">
                <a:solidFill>
                  <a:srgbClr val="F2A93B"/>
                </a:solidFill>
                <a:latin typeface="Calibri" pitchFamily="34" charset="0"/>
                <a:ea typeface="Calibri" pitchFamily="34" charset="-122"/>
                <a:cs typeface="Calibri" pitchFamily="34" charset="-120"/>
              </a:rPr>
              <a:t>1M1B  x  IBM SKILLSBUILD  x  AICTE</a:t>
            </a:r>
            <a:endParaRPr lang="en-US" sz="1300" dirty="0"/>
          </a:p>
        </p:txBody>
      </p:sp>
      <p:sp>
        <p:nvSpPr>
          <p:cNvPr id="5" name="Text 3"/>
          <p:cNvSpPr txBox="1"/>
          <p:nvPr/>
        </p:nvSpPr>
        <p:spPr>
          <a:xfrm>
            <a:off x="731520" y="1005840"/>
            <a:ext cx="8229600" cy="365760"/>
          </a:xfrm>
          <a:prstGeom prst="rect">
            <a:avLst/>
          </a:prstGeom>
          <a:noFill/>
          <a:ln/>
        </p:spPr>
        <p:txBody>
          <a:bodyPr wrap="square" lIns="0" tIns="0" rIns="0" bIns="0" rtlCol="0" anchor="ctr"/>
          <a:lstStyle/>
          <a:p>
            <a:pPr indent="0" marL="0">
              <a:buNone/>
            </a:pPr>
            <a:r>
              <a:rPr lang="en-US" sz="1400" dirty="0">
                <a:solidFill>
                  <a:srgbClr val="CADCEB"/>
                </a:solidFill>
                <a:latin typeface="Calibri" pitchFamily="34" charset="0"/>
                <a:ea typeface="Calibri" pitchFamily="34" charset="-122"/>
                <a:cs typeface="Calibri" pitchFamily="34" charset="-120"/>
              </a:rPr>
              <a:t>AI for Sustainability Virtual Internship — Capstone Project</a:t>
            </a:r>
            <a:endParaRPr lang="en-US" sz="1400" dirty="0"/>
          </a:p>
        </p:txBody>
      </p:sp>
      <p:sp>
        <p:nvSpPr>
          <p:cNvPr id="6" name="Shape 4"/>
          <p:cNvSpPr/>
          <p:nvPr/>
        </p:nvSpPr>
        <p:spPr>
          <a:xfrm>
            <a:off x="731520" y="1965960"/>
            <a:ext cx="822960" cy="822960"/>
          </a:xfrm>
          <a:prstGeom prst="ellipse">
            <a:avLst/>
          </a:prstGeom>
          <a:solidFill>
            <a:srgbClr val="1C7293"/>
          </a:solidFill>
          <a:ln/>
        </p:spPr>
      </p:sp>
      <p:pic>
        <p:nvPicPr>
          <p:cNvPr id="7" name="Image 0" descr="icons/water.png">    </p:cNvPr>
          <p:cNvPicPr>
            <a:picLocks noChangeAspect="1"/>
          </p:cNvPicPr>
          <p:nvPr/>
        </p:nvPicPr>
        <p:blipFill>
          <a:blip r:embed="rId1"/>
          <a:stretch>
            <a:fillRect/>
          </a:stretch>
        </p:blipFill>
        <p:spPr>
          <a:xfrm>
            <a:off x="916686" y="2151126"/>
            <a:ext cx="452628" cy="452628"/>
          </a:xfrm>
          <a:prstGeom prst="rect">
            <a:avLst/>
          </a:prstGeom>
        </p:spPr>
      </p:pic>
      <p:sp>
        <p:nvSpPr>
          <p:cNvPr id="8" name="Text 5"/>
          <p:cNvSpPr txBox="1"/>
          <p:nvPr/>
        </p:nvSpPr>
        <p:spPr>
          <a:xfrm>
            <a:off x="1783080" y="1874520"/>
            <a:ext cx="86868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UrbanGuard AI</a:t>
            </a:r>
            <a:endParaRPr lang="en-US" sz="4600" dirty="0"/>
          </a:p>
        </p:txBody>
      </p:sp>
      <p:sp>
        <p:nvSpPr>
          <p:cNvPr id="9" name="Text 6"/>
          <p:cNvSpPr txBox="1"/>
          <p:nvPr/>
        </p:nvSpPr>
        <p:spPr>
          <a:xfrm>
            <a:off x="749808" y="2971800"/>
            <a:ext cx="9601200" cy="868680"/>
          </a:xfrm>
          <a:prstGeom prst="rect">
            <a:avLst/>
          </a:prstGeom>
          <a:noFill/>
          <a:ln/>
        </p:spPr>
        <p:txBody>
          <a:bodyPr wrap="square" lIns="0" tIns="0" rIns="0" bIns="0" rtlCol="0" anchor="ctr"/>
          <a:lstStyle/>
          <a:p>
            <a:pPr indent="0" marL="0">
              <a:lnSpc>
                <a:spcPts val="2400"/>
              </a:lnSpc>
              <a:buNone/>
            </a:pPr>
            <a:r>
              <a:rPr lang="en-US" sz="1800" dirty="0">
                <a:solidFill>
                  <a:srgbClr val="D7E6F0"/>
                </a:solidFill>
                <a:latin typeface="Calibri" pitchFamily="34" charset="0"/>
                <a:ea typeface="Calibri" pitchFamily="34" charset="-122"/>
                <a:cs typeface="Calibri" pitchFamily="34" charset="-120"/>
              </a:rPr>
              <a:t>Smart Flood Risk Prediction &amp; Civic Grievance Assistant</a:t>
            </a:r>
            <a:endParaRPr lang="en-US" sz="1800" dirty="0"/>
          </a:p>
          <a:p>
            <a:pPr indent="0" marL="0">
              <a:lnSpc>
                <a:spcPts val="2400"/>
              </a:lnSpc>
              <a:buNone/>
            </a:pPr>
            <a:r>
              <a:rPr lang="en-US" sz="1800" dirty="0">
                <a:solidFill>
                  <a:srgbClr val="D7E6F0"/>
                </a:solidFill>
                <a:latin typeface="Calibri" pitchFamily="34" charset="0"/>
                <a:ea typeface="Calibri" pitchFamily="34" charset="-122"/>
                <a:cs typeface="Calibri" pitchFamily="34" charset="-120"/>
              </a:rPr>
              <a:t>for Sustainable, Climate-Resilient Cities</a:t>
            </a:r>
            <a:endParaRPr lang="en-US" sz="1800" dirty="0"/>
          </a:p>
        </p:txBody>
      </p:sp>
      <p:sp>
        <p:nvSpPr>
          <p:cNvPr id="10" name="Shape 7"/>
          <p:cNvSpPr/>
          <p:nvPr/>
        </p:nvSpPr>
        <p:spPr>
          <a:xfrm>
            <a:off x="749808" y="4160520"/>
            <a:ext cx="3291840" cy="502920"/>
          </a:xfrm>
          <a:prstGeom prst="roundRect">
            <a:avLst>
              <a:gd name="adj" fmla="val 18182"/>
            </a:avLst>
          </a:prstGeom>
          <a:solidFill>
            <a:srgbClr val="082C48"/>
          </a:solidFill>
          <a:ln w="12700">
            <a:solidFill>
              <a:srgbClr val="F2A93B"/>
            </a:solidFill>
            <a:prstDash val="solid"/>
          </a:ln>
        </p:spPr>
      </p:sp>
      <p:sp>
        <p:nvSpPr>
          <p:cNvPr id="11" name="Text 8"/>
          <p:cNvSpPr txBox="1"/>
          <p:nvPr/>
        </p:nvSpPr>
        <p:spPr>
          <a:xfrm>
            <a:off x="886968" y="4160520"/>
            <a:ext cx="3017520" cy="502920"/>
          </a:xfrm>
          <a:prstGeom prst="rect">
            <a:avLst/>
          </a:prstGeom>
          <a:noFill/>
          <a:ln/>
        </p:spPr>
        <p:txBody>
          <a:bodyPr wrap="square" lIns="0" tIns="0" rIns="0" bIns="0" rtlCol="0" anchor="ctr"/>
          <a:lstStyle/>
          <a:p>
            <a:pPr indent="0" marL="0">
              <a:buNone/>
            </a:pPr>
            <a:r>
              <a:rPr lang="en-US" sz="1200" b="1" dirty="0">
                <a:solidFill>
                  <a:srgbClr val="F2A93B"/>
                </a:solidFill>
                <a:latin typeface="Calibri" pitchFamily="34" charset="0"/>
                <a:ea typeface="Calibri" pitchFamily="34" charset="-122"/>
                <a:cs typeface="Calibri" pitchFamily="34" charset="-120"/>
              </a:rPr>
              <a:t>SDG 11  </a:t>
            </a:r>
            <a:pPr indent="0" marL="0">
              <a:buNone/>
            </a:pPr>
            <a:r>
              <a:rPr lang="en-US" sz="1200" dirty="0">
                <a:solidFill>
                  <a:srgbClr val="FFFFFF"/>
                </a:solidFill>
                <a:latin typeface="Calibri" pitchFamily="34" charset="0"/>
                <a:ea typeface="Calibri" pitchFamily="34" charset="-122"/>
                <a:cs typeface="Calibri" pitchFamily="34" charset="-120"/>
              </a:rPr>
              <a:t>Sustainable Cities &amp; Communities</a:t>
            </a:r>
            <a:endParaRPr lang="en-US" sz="1200" dirty="0"/>
          </a:p>
        </p:txBody>
      </p:sp>
      <p:sp>
        <p:nvSpPr>
          <p:cNvPr id="12" name="Shape 9"/>
          <p:cNvSpPr/>
          <p:nvPr/>
        </p:nvSpPr>
        <p:spPr>
          <a:xfrm>
            <a:off x="4206240" y="4160520"/>
            <a:ext cx="3291840" cy="502920"/>
          </a:xfrm>
          <a:prstGeom prst="roundRect">
            <a:avLst>
              <a:gd name="adj" fmla="val 18182"/>
            </a:avLst>
          </a:prstGeom>
          <a:solidFill>
            <a:srgbClr val="082C48"/>
          </a:solidFill>
          <a:ln w="12700">
            <a:solidFill>
              <a:srgbClr val="F2A93B"/>
            </a:solidFill>
            <a:prstDash val="solid"/>
          </a:ln>
        </p:spPr>
      </p:sp>
      <p:sp>
        <p:nvSpPr>
          <p:cNvPr id="13" name="Text 10"/>
          <p:cNvSpPr txBox="1"/>
          <p:nvPr/>
        </p:nvSpPr>
        <p:spPr>
          <a:xfrm>
            <a:off x="4343400" y="4160520"/>
            <a:ext cx="3017520" cy="502920"/>
          </a:xfrm>
          <a:prstGeom prst="rect">
            <a:avLst/>
          </a:prstGeom>
          <a:noFill/>
          <a:ln/>
        </p:spPr>
        <p:txBody>
          <a:bodyPr wrap="square" lIns="0" tIns="0" rIns="0" bIns="0" rtlCol="0" anchor="ctr"/>
          <a:lstStyle/>
          <a:p>
            <a:pPr indent="0" marL="0">
              <a:buNone/>
            </a:pPr>
            <a:r>
              <a:rPr lang="en-US" sz="1200" b="1" dirty="0">
                <a:solidFill>
                  <a:srgbClr val="F2A93B"/>
                </a:solidFill>
                <a:latin typeface="Calibri" pitchFamily="34" charset="0"/>
                <a:ea typeface="Calibri" pitchFamily="34" charset="-122"/>
                <a:cs typeface="Calibri" pitchFamily="34" charset="-120"/>
              </a:rPr>
              <a:t>SDG 13  </a:t>
            </a:r>
            <a:pPr indent="0" marL="0">
              <a:buNone/>
            </a:pPr>
            <a:r>
              <a:rPr lang="en-US" sz="1200" dirty="0">
                <a:solidFill>
                  <a:srgbClr val="FFFFFF"/>
                </a:solidFill>
                <a:latin typeface="Calibri" pitchFamily="34" charset="0"/>
                <a:ea typeface="Calibri" pitchFamily="34" charset="-122"/>
                <a:cs typeface="Calibri" pitchFamily="34" charset="-120"/>
              </a:rPr>
              <a:t>Climate Action</a:t>
            </a:r>
            <a:endParaRPr lang="en-US" sz="1200" dirty="0"/>
          </a:p>
        </p:txBody>
      </p:sp>
      <p:sp>
        <p:nvSpPr>
          <p:cNvPr id="14" name="Shape 11"/>
          <p:cNvSpPr/>
          <p:nvPr/>
        </p:nvSpPr>
        <p:spPr>
          <a:xfrm>
            <a:off x="749808" y="5074920"/>
            <a:ext cx="10698480" cy="0"/>
          </a:xfrm>
          <a:prstGeom prst="line">
            <a:avLst/>
          </a:prstGeom>
          <a:noFill/>
          <a:ln w="12700">
            <a:solidFill>
              <a:srgbClr val="27547A"/>
            </a:solidFill>
            <a:prstDash val="solid"/>
          </a:ln>
        </p:spPr>
      </p:sp>
      <p:sp>
        <p:nvSpPr>
          <p:cNvPr id="15" name="Text 12"/>
          <p:cNvSpPr txBox="1"/>
          <p:nvPr/>
        </p:nvSpPr>
        <p:spPr>
          <a:xfrm>
            <a:off x="749808" y="5257800"/>
            <a:ext cx="5486400" cy="365760"/>
          </a:xfrm>
          <a:prstGeom prst="rect">
            <a:avLst/>
          </a:prstGeom>
          <a:noFill/>
          <a:ln/>
        </p:spPr>
        <p:txBody>
          <a:bodyPr wrap="square" lIns="0" tIns="0" rIns="0" bIns="0" rtlCol="0" anchor="ctr"/>
          <a:lstStyle/>
          <a:p>
            <a:pPr indent="0" marL="0">
              <a:buNone/>
            </a:pPr>
            <a:r>
              <a:rPr lang="en-US" sz="1500" dirty="0">
                <a:solidFill>
                  <a:srgbClr val="9FB6C8"/>
                </a:solidFill>
                <a:latin typeface="Calibri" pitchFamily="34" charset="0"/>
                <a:ea typeface="Calibri" pitchFamily="34" charset="-122"/>
                <a:cs typeface="Calibri" pitchFamily="34" charset="-120"/>
              </a:rPr>
              <a:t>Presented by:  </a:t>
            </a:r>
            <a:pPr indent="0" marL="0">
              <a:buNone/>
            </a:pPr>
            <a:r>
              <a:rPr lang="en-US" sz="1500" b="1" dirty="0">
                <a:solidFill>
                  <a:srgbClr val="FFFFFF"/>
                </a:solidFill>
                <a:latin typeface="Calibri" pitchFamily="34" charset="0"/>
                <a:ea typeface="Calibri" pitchFamily="34" charset="-122"/>
                <a:cs typeface="Calibri" pitchFamily="34" charset="-120"/>
              </a:rPr>
              <a:t>Dev Kumar</a:t>
            </a:r>
            <a:endParaRPr lang="en-US" sz="1500" dirty="0"/>
          </a:p>
        </p:txBody>
      </p:sp>
      <p:sp>
        <p:nvSpPr>
          <p:cNvPr id="16" name="Text 13"/>
          <p:cNvSpPr txBox="1"/>
          <p:nvPr/>
        </p:nvSpPr>
        <p:spPr>
          <a:xfrm>
            <a:off x="749808" y="5623560"/>
            <a:ext cx="7315200" cy="365760"/>
          </a:xfrm>
          <a:prstGeom prst="rect">
            <a:avLst/>
          </a:prstGeom>
          <a:noFill/>
          <a:ln/>
        </p:spPr>
        <p:txBody>
          <a:bodyPr wrap="square" lIns="0" tIns="0" rIns="0" bIns="0" rtlCol="0" anchor="ctr"/>
          <a:lstStyle/>
          <a:p>
            <a:pPr indent="0" marL="0">
              <a:buNone/>
            </a:pPr>
            <a:r>
              <a:rPr lang="en-US" sz="1500" dirty="0">
                <a:solidFill>
                  <a:srgbClr val="9FB6C8"/>
                </a:solidFill>
                <a:latin typeface="Calibri" pitchFamily="34" charset="0"/>
                <a:ea typeface="Calibri" pitchFamily="34" charset="-122"/>
                <a:cs typeface="Calibri" pitchFamily="34" charset="-120"/>
              </a:rPr>
              <a:t>College:  </a:t>
            </a:r>
            <a:pPr indent="0" marL="0">
              <a:buNone/>
            </a:pPr>
            <a:r>
              <a:rPr lang="en-US" sz="1500" b="1" dirty="0">
                <a:solidFill>
                  <a:srgbClr val="FFFFFF"/>
                </a:solidFill>
                <a:latin typeface="Calibri" pitchFamily="34" charset="0"/>
                <a:ea typeface="Calibri" pitchFamily="34" charset="-122"/>
                <a:cs typeface="Calibri" pitchFamily="34" charset="-120"/>
              </a:rPr>
              <a:t>KCC Institute of Technology and Management</a:t>
            </a:r>
            <a:endParaRPr lang="en-US" sz="1500" dirty="0"/>
          </a:p>
        </p:txBody>
      </p:sp>
      <p:sp>
        <p:nvSpPr>
          <p:cNvPr id="17" name="Text 14"/>
          <p:cNvSpPr txBox="1"/>
          <p:nvPr/>
        </p:nvSpPr>
        <p:spPr>
          <a:xfrm>
            <a:off x="749808" y="6053328"/>
            <a:ext cx="7315200" cy="320040"/>
          </a:xfrm>
          <a:prstGeom prst="rect">
            <a:avLst/>
          </a:prstGeom>
          <a:noFill/>
          <a:ln/>
        </p:spPr>
        <p:txBody>
          <a:bodyPr wrap="square" lIns="0" tIns="0" rIns="0" bIns="0" rtlCol="0" anchor="ctr"/>
          <a:lstStyle/>
          <a:p>
            <a:pPr indent="0" marL="0">
              <a:buNone/>
            </a:pPr>
            <a:r>
              <a:rPr lang="en-US" sz="1200" dirty="0">
                <a:solidFill>
                  <a:srgbClr val="8FA6BA"/>
                </a:solidFill>
                <a:latin typeface="Calibri" pitchFamily="34" charset="0"/>
                <a:ea typeface="Calibri" pitchFamily="34" charset="-122"/>
                <a:cs typeface="Calibri" pitchFamily="34" charset="-120"/>
              </a:rPr>
              <a:t>Track: AI for Sustainability  |  Cohort: July–Sep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PROJECT CONTEXT</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Why Cities and Climate, Why Now</a:t>
            </a:r>
            <a:endParaRPr lang="en-US" sz="3000" dirty="0"/>
          </a:p>
        </p:txBody>
      </p:sp>
      <p:sp>
        <p:nvSpPr>
          <p:cNvPr id="4" name="Text 2"/>
          <p:cNvSpPr txBox="1"/>
          <p:nvPr/>
        </p:nvSpPr>
        <p:spPr>
          <a:xfrm>
            <a:off x="548640" y="1417320"/>
            <a:ext cx="5943600" cy="2103120"/>
          </a:xfrm>
          <a:prstGeom prst="rect">
            <a:avLst/>
          </a:prstGeom>
          <a:noFill/>
          <a:ln/>
        </p:spPr>
        <p:txBody>
          <a:bodyPr wrap="square" lIns="0" tIns="0" rIns="0" bIns="0" rtlCol="0" anchor="ctr"/>
          <a:lstStyle/>
          <a:p>
            <a:pPr indent="0" marL="0">
              <a:lnSpc>
                <a:spcPts val="2200"/>
              </a:lnSpc>
              <a:buNone/>
            </a:pPr>
            <a:r>
              <a:rPr lang="en-US" sz="1450" dirty="0">
                <a:solidFill>
                  <a:srgbClr val="5B6B77"/>
                </a:solidFill>
                <a:latin typeface="Calibri" pitchFamily="34" charset="0"/>
                <a:ea typeface="Calibri" pitchFamily="34" charset="-122"/>
                <a:cs typeface="Calibri" pitchFamily="34" charset="-120"/>
              </a:rPr>
              <a:t>Indian cities are growing faster than their drainage and civic-response systems. Erratic, intense monsoon spells linked to climate change regularly turn ordinary rainfall into waterlogging and localized flooding. Citizens report the same recurring hotspots year after year, but complaints are still logged manually, triaged slowly, and rarely connected to any predictive signal about where the next flood risk will emerge.</a:t>
            </a:r>
            <a:endParaRPr lang="en-US" sz="1450" dirty="0"/>
          </a:p>
        </p:txBody>
      </p:sp>
      <p:sp>
        <p:nvSpPr>
          <p:cNvPr id="5" name="Shape 3"/>
          <p:cNvSpPr/>
          <p:nvPr/>
        </p:nvSpPr>
        <p:spPr>
          <a:xfrm>
            <a:off x="6720840" y="1371600"/>
            <a:ext cx="4937760" cy="749808"/>
          </a:xfrm>
          <a:prstGeom prst="roundRect">
            <a:avLst>
              <a:gd name="adj" fmla="val 9756"/>
            </a:avLst>
          </a:prstGeom>
          <a:solidFill>
            <a:srgbClr val="F5F9FA"/>
          </a:solidFill>
          <a:ln/>
        </p:spPr>
      </p:sp>
      <p:sp>
        <p:nvSpPr>
          <p:cNvPr id="6" name="Shape 4"/>
          <p:cNvSpPr/>
          <p:nvPr/>
        </p:nvSpPr>
        <p:spPr>
          <a:xfrm>
            <a:off x="6839712" y="1463040"/>
            <a:ext cx="566928" cy="566928"/>
          </a:xfrm>
          <a:prstGeom prst="ellipse">
            <a:avLst/>
          </a:prstGeom>
          <a:solidFill>
            <a:srgbClr val="1C7293"/>
          </a:solidFill>
          <a:ln/>
        </p:spPr>
      </p:sp>
      <p:pic>
        <p:nvPicPr>
          <p:cNvPr id="7" name="Image 0" descr="icons/cloud.png">    </p:cNvPr>
          <p:cNvPicPr>
            <a:picLocks noChangeAspect="1"/>
          </p:cNvPicPr>
          <p:nvPr/>
        </p:nvPicPr>
        <p:blipFill>
          <a:blip r:embed="rId1"/>
          <a:stretch>
            <a:fillRect/>
          </a:stretch>
        </p:blipFill>
        <p:spPr>
          <a:xfrm>
            <a:off x="6967271" y="1590599"/>
            <a:ext cx="311810" cy="311810"/>
          </a:xfrm>
          <a:prstGeom prst="rect">
            <a:avLst/>
          </a:prstGeom>
        </p:spPr>
      </p:pic>
      <p:sp>
        <p:nvSpPr>
          <p:cNvPr id="8" name="Text 5"/>
          <p:cNvSpPr txBox="1"/>
          <p:nvPr/>
        </p:nvSpPr>
        <p:spPr>
          <a:xfrm>
            <a:off x="7589520" y="1408176"/>
            <a:ext cx="3840480" cy="274320"/>
          </a:xfrm>
          <a:prstGeom prst="rect">
            <a:avLst/>
          </a:prstGeom>
          <a:noFill/>
          <a:ln/>
        </p:spPr>
        <p:txBody>
          <a:bodyPr wrap="square" lIns="0" tIns="0" rIns="0" bIns="0"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Rising</a:t>
            </a:r>
            <a:endParaRPr lang="en-US" sz="1300" dirty="0"/>
          </a:p>
        </p:txBody>
      </p:sp>
      <p:sp>
        <p:nvSpPr>
          <p:cNvPr id="9" name="Text 6"/>
          <p:cNvSpPr txBox="1"/>
          <p:nvPr/>
        </p:nvSpPr>
        <p:spPr>
          <a:xfrm>
            <a:off x="7589520" y="1664208"/>
            <a:ext cx="3931920" cy="438912"/>
          </a:xfrm>
          <a:prstGeom prst="rect">
            <a:avLst/>
          </a:prstGeom>
          <a:noFill/>
          <a:ln/>
        </p:spPr>
        <p:txBody>
          <a:bodyPr wrap="square" lIns="0" tIns="0" rIns="0" bIns="0" rtlCol="0" anchor="ctr"/>
          <a:lstStyle/>
          <a:p>
            <a:pPr indent="0" marL="0">
              <a:lnSpc>
                <a:spcPts val="1200"/>
              </a:lnSpc>
              <a:buNone/>
            </a:pPr>
            <a:r>
              <a:rPr lang="en-US" sz="1000" dirty="0">
                <a:solidFill>
                  <a:srgbClr val="5B6B77"/>
                </a:solidFill>
                <a:latin typeface="Calibri" pitchFamily="34" charset="0"/>
                <a:ea typeface="Calibri" pitchFamily="34" charset="-122"/>
                <a:cs typeface="Calibri" pitchFamily="34" charset="-120"/>
              </a:rPr>
              <a:t>frequency of intense, short-duration monsoon rain events in urban India</a:t>
            </a:r>
            <a:endParaRPr lang="en-US" sz="1000" dirty="0"/>
          </a:p>
        </p:txBody>
      </p:sp>
      <p:sp>
        <p:nvSpPr>
          <p:cNvPr id="10" name="Shape 7"/>
          <p:cNvSpPr/>
          <p:nvPr/>
        </p:nvSpPr>
        <p:spPr>
          <a:xfrm>
            <a:off x="6720840" y="2240280"/>
            <a:ext cx="4937760" cy="749808"/>
          </a:xfrm>
          <a:prstGeom prst="roundRect">
            <a:avLst>
              <a:gd name="adj" fmla="val 9756"/>
            </a:avLst>
          </a:prstGeom>
          <a:solidFill>
            <a:srgbClr val="F5F9FA"/>
          </a:solidFill>
          <a:ln/>
        </p:spPr>
      </p:sp>
      <p:sp>
        <p:nvSpPr>
          <p:cNvPr id="11" name="Shape 8"/>
          <p:cNvSpPr/>
          <p:nvPr/>
        </p:nvSpPr>
        <p:spPr>
          <a:xfrm>
            <a:off x="6839712" y="2331720"/>
            <a:ext cx="566928" cy="566928"/>
          </a:xfrm>
          <a:prstGeom prst="ellipse">
            <a:avLst/>
          </a:prstGeom>
          <a:solidFill>
            <a:srgbClr val="1C7293"/>
          </a:solidFill>
          <a:ln/>
        </p:spPr>
      </p:sp>
      <p:pic>
        <p:nvPicPr>
          <p:cNvPr id="12" name="Image 1" descr="icons/alert.png">    </p:cNvPr>
          <p:cNvPicPr>
            <a:picLocks noChangeAspect="1"/>
          </p:cNvPicPr>
          <p:nvPr/>
        </p:nvPicPr>
        <p:blipFill>
          <a:blip r:embed="rId2"/>
          <a:stretch>
            <a:fillRect/>
          </a:stretch>
        </p:blipFill>
        <p:spPr>
          <a:xfrm>
            <a:off x="6967271" y="2459279"/>
            <a:ext cx="311810" cy="311810"/>
          </a:xfrm>
          <a:prstGeom prst="rect">
            <a:avLst/>
          </a:prstGeom>
        </p:spPr>
      </p:pic>
      <p:sp>
        <p:nvSpPr>
          <p:cNvPr id="13" name="Text 9"/>
          <p:cNvSpPr txBox="1"/>
          <p:nvPr/>
        </p:nvSpPr>
        <p:spPr>
          <a:xfrm>
            <a:off x="7589520" y="2276856"/>
            <a:ext cx="3840480" cy="274320"/>
          </a:xfrm>
          <a:prstGeom prst="rect">
            <a:avLst/>
          </a:prstGeom>
          <a:noFill/>
          <a:ln/>
        </p:spPr>
        <p:txBody>
          <a:bodyPr wrap="square" lIns="0" tIns="0" rIns="0" bIns="0"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Recurring</a:t>
            </a:r>
            <a:endParaRPr lang="en-US" sz="1300" dirty="0"/>
          </a:p>
        </p:txBody>
      </p:sp>
      <p:sp>
        <p:nvSpPr>
          <p:cNvPr id="14" name="Text 10"/>
          <p:cNvSpPr txBox="1"/>
          <p:nvPr/>
        </p:nvSpPr>
        <p:spPr>
          <a:xfrm>
            <a:off x="7589520" y="2532888"/>
            <a:ext cx="3931920" cy="438912"/>
          </a:xfrm>
          <a:prstGeom prst="rect">
            <a:avLst/>
          </a:prstGeom>
          <a:noFill/>
          <a:ln/>
        </p:spPr>
        <p:txBody>
          <a:bodyPr wrap="square" lIns="0" tIns="0" rIns="0" bIns="0" rtlCol="0" anchor="ctr"/>
          <a:lstStyle/>
          <a:p>
            <a:pPr indent="0" marL="0">
              <a:lnSpc>
                <a:spcPts val="1200"/>
              </a:lnSpc>
              <a:buNone/>
            </a:pPr>
            <a:r>
              <a:rPr lang="en-US" sz="1000" dirty="0">
                <a:solidFill>
                  <a:srgbClr val="5B6B77"/>
                </a:solidFill>
                <a:latin typeface="Calibri" pitchFamily="34" charset="0"/>
                <a:ea typeface="Calibri" pitchFamily="34" charset="-122"/>
                <a:cs typeface="Calibri" pitchFamily="34" charset="-120"/>
              </a:rPr>
              <a:t>waterlogging hotspots reported every monsoon in the same city wards</a:t>
            </a:r>
            <a:endParaRPr lang="en-US" sz="1000" dirty="0"/>
          </a:p>
        </p:txBody>
      </p:sp>
      <p:sp>
        <p:nvSpPr>
          <p:cNvPr id="15" name="Shape 11"/>
          <p:cNvSpPr/>
          <p:nvPr/>
        </p:nvSpPr>
        <p:spPr>
          <a:xfrm>
            <a:off x="6720840" y="3108960"/>
            <a:ext cx="4937760" cy="749808"/>
          </a:xfrm>
          <a:prstGeom prst="roundRect">
            <a:avLst>
              <a:gd name="adj" fmla="val 9756"/>
            </a:avLst>
          </a:prstGeom>
          <a:solidFill>
            <a:srgbClr val="F5F9FA"/>
          </a:solidFill>
          <a:ln/>
        </p:spPr>
      </p:sp>
      <p:sp>
        <p:nvSpPr>
          <p:cNvPr id="16" name="Shape 12"/>
          <p:cNvSpPr/>
          <p:nvPr/>
        </p:nvSpPr>
        <p:spPr>
          <a:xfrm>
            <a:off x="6839712" y="3200400"/>
            <a:ext cx="566928" cy="566928"/>
          </a:xfrm>
          <a:prstGeom prst="ellipse">
            <a:avLst/>
          </a:prstGeom>
          <a:solidFill>
            <a:srgbClr val="1C7293"/>
          </a:solidFill>
          <a:ln/>
        </p:spPr>
      </p:sp>
      <p:pic>
        <p:nvPicPr>
          <p:cNvPr id="17" name="Image 2" descr="icons/clipboard.png">    </p:cNvPr>
          <p:cNvPicPr>
            <a:picLocks noChangeAspect="1"/>
          </p:cNvPicPr>
          <p:nvPr/>
        </p:nvPicPr>
        <p:blipFill>
          <a:blip r:embed="rId3"/>
          <a:stretch>
            <a:fillRect/>
          </a:stretch>
        </p:blipFill>
        <p:spPr>
          <a:xfrm>
            <a:off x="6967271" y="3327959"/>
            <a:ext cx="311810" cy="311810"/>
          </a:xfrm>
          <a:prstGeom prst="rect">
            <a:avLst/>
          </a:prstGeom>
        </p:spPr>
      </p:pic>
      <p:sp>
        <p:nvSpPr>
          <p:cNvPr id="18" name="Text 13"/>
          <p:cNvSpPr txBox="1"/>
          <p:nvPr/>
        </p:nvSpPr>
        <p:spPr>
          <a:xfrm>
            <a:off x="7589520" y="3145536"/>
            <a:ext cx="3840480" cy="274320"/>
          </a:xfrm>
          <a:prstGeom prst="rect">
            <a:avLst/>
          </a:prstGeom>
          <a:noFill/>
          <a:ln/>
        </p:spPr>
        <p:txBody>
          <a:bodyPr wrap="square" lIns="0" tIns="0" rIns="0" bIns="0" rtlCol="0" anchor="ctr"/>
          <a:lstStyle/>
          <a:p>
            <a:pPr indent="0" marL="0">
              <a:buNone/>
            </a:pPr>
            <a:r>
              <a:rPr lang="en-US" sz="1300" b="1" dirty="0">
                <a:solidFill>
                  <a:srgbClr val="0B3D62"/>
                </a:solidFill>
                <a:latin typeface="Calibri" pitchFamily="34" charset="0"/>
                <a:ea typeface="Calibri" pitchFamily="34" charset="-122"/>
                <a:cs typeface="Calibri" pitchFamily="34" charset="-120"/>
              </a:rPr>
              <a:t>Manual</a:t>
            </a:r>
            <a:endParaRPr lang="en-US" sz="1300" dirty="0"/>
          </a:p>
        </p:txBody>
      </p:sp>
      <p:sp>
        <p:nvSpPr>
          <p:cNvPr id="19" name="Text 14"/>
          <p:cNvSpPr txBox="1"/>
          <p:nvPr/>
        </p:nvSpPr>
        <p:spPr>
          <a:xfrm>
            <a:off x="7589520" y="3401568"/>
            <a:ext cx="3931920" cy="438912"/>
          </a:xfrm>
          <a:prstGeom prst="rect">
            <a:avLst/>
          </a:prstGeom>
          <a:noFill/>
          <a:ln/>
        </p:spPr>
        <p:txBody>
          <a:bodyPr wrap="square" lIns="0" tIns="0" rIns="0" bIns="0" rtlCol="0" anchor="ctr"/>
          <a:lstStyle/>
          <a:p>
            <a:pPr indent="0" marL="0">
              <a:lnSpc>
                <a:spcPts val="1200"/>
              </a:lnSpc>
              <a:buNone/>
            </a:pPr>
            <a:r>
              <a:rPr lang="en-US" sz="1000" dirty="0">
                <a:solidFill>
                  <a:srgbClr val="5B6B77"/>
                </a:solidFill>
                <a:latin typeface="Calibri" pitchFamily="34" charset="0"/>
                <a:ea typeface="Calibri" pitchFamily="34" charset="-122"/>
                <a:cs typeface="Calibri" pitchFamily="34" charset="-120"/>
              </a:rPr>
              <a:t>complaint triage means slow, inconsistent routing to repair crews</a:t>
            </a:r>
            <a:endParaRPr lang="en-US" sz="1000" dirty="0"/>
          </a:p>
        </p:txBody>
      </p:sp>
      <p:sp>
        <p:nvSpPr>
          <p:cNvPr id="20" name="Shape 15"/>
          <p:cNvSpPr/>
          <p:nvPr/>
        </p:nvSpPr>
        <p:spPr>
          <a:xfrm>
            <a:off x="548640" y="4023360"/>
            <a:ext cx="11064240" cy="2103120"/>
          </a:xfrm>
          <a:prstGeom prst="roundRect">
            <a:avLst>
              <a:gd name="adj" fmla="val 3478"/>
            </a:avLst>
          </a:prstGeom>
          <a:solidFill>
            <a:srgbClr val="0B3D62"/>
          </a:solidFill>
          <a:ln/>
        </p:spPr>
      </p:sp>
      <p:sp>
        <p:nvSpPr>
          <p:cNvPr id="21" name="Shape 16"/>
          <p:cNvSpPr/>
          <p:nvPr/>
        </p:nvSpPr>
        <p:spPr>
          <a:xfrm>
            <a:off x="868680" y="4279392"/>
            <a:ext cx="731520" cy="731520"/>
          </a:xfrm>
          <a:prstGeom prst="ellipse">
            <a:avLst/>
          </a:prstGeom>
          <a:solidFill>
            <a:srgbClr val="1C7293"/>
          </a:solidFill>
          <a:ln/>
        </p:spPr>
      </p:sp>
      <p:pic>
        <p:nvPicPr>
          <p:cNvPr id="22" name="Image 3" descr="icons/city.png">    </p:cNvPr>
          <p:cNvPicPr>
            <a:picLocks noChangeAspect="1"/>
          </p:cNvPicPr>
          <p:nvPr/>
        </p:nvPicPr>
        <p:blipFill>
          <a:blip r:embed="rId4"/>
          <a:stretch>
            <a:fillRect/>
          </a:stretch>
        </p:blipFill>
        <p:spPr>
          <a:xfrm>
            <a:off x="1033272" y="4443984"/>
            <a:ext cx="402336" cy="402336"/>
          </a:xfrm>
          <a:prstGeom prst="rect">
            <a:avLst/>
          </a:prstGeom>
        </p:spPr>
      </p:pic>
      <p:sp>
        <p:nvSpPr>
          <p:cNvPr id="23" name="Text 17"/>
          <p:cNvSpPr txBox="1"/>
          <p:nvPr/>
        </p:nvSpPr>
        <p:spPr>
          <a:xfrm>
            <a:off x="1828800" y="4279392"/>
            <a:ext cx="9418320" cy="365760"/>
          </a:xfrm>
          <a:prstGeom prst="rect">
            <a:avLst/>
          </a:prstGeom>
          <a:noFill/>
          <a:ln/>
        </p:spPr>
        <p:txBody>
          <a:bodyPr wrap="square" lIns="0" tIns="0" rIns="0" bIns="0" rtlCol="0" anchor="ctr"/>
          <a:lstStyle/>
          <a:p>
            <a:pPr indent="0" marL="0">
              <a:buNone/>
            </a:pPr>
            <a:r>
              <a:rPr lang="en-US" sz="1600" b="1" dirty="0">
                <a:solidFill>
                  <a:srgbClr val="F2A93B"/>
                </a:solidFill>
                <a:latin typeface="Calibri" pitchFamily="34" charset="0"/>
                <a:ea typeface="Calibri" pitchFamily="34" charset="-122"/>
                <a:cs typeface="Calibri" pitchFamily="34" charset="-120"/>
              </a:rPr>
              <a:t>The gap this project addresses</a:t>
            </a:r>
            <a:endParaRPr lang="en-US" sz="1600" dirty="0"/>
          </a:p>
        </p:txBody>
      </p:sp>
      <p:sp>
        <p:nvSpPr>
          <p:cNvPr id="24" name="Text 18"/>
          <p:cNvSpPr txBox="1"/>
          <p:nvPr/>
        </p:nvSpPr>
        <p:spPr>
          <a:xfrm>
            <a:off x="1828800" y="4663440"/>
            <a:ext cx="9464040" cy="1371600"/>
          </a:xfrm>
          <a:prstGeom prst="rect">
            <a:avLst/>
          </a:prstGeom>
          <a:noFill/>
          <a:ln/>
        </p:spPr>
        <p:txBody>
          <a:bodyPr wrap="square" lIns="0" tIns="0" rIns="0" bIns="0" rtlCol="0" anchor="ctr"/>
          <a:lstStyle/>
          <a:p>
            <a:pPr indent="0" marL="0">
              <a:lnSpc>
                <a:spcPts val="2000"/>
              </a:lnSpc>
              <a:buNone/>
            </a:pPr>
            <a:r>
              <a:rPr lang="en-US" sz="1300" dirty="0">
                <a:solidFill>
                  <a:srgbClr val="D7E6F0"/>
                </a:solidFill>
                <a:latin typeface="Calibri" pitchFamily="34" charset="0"/>
                <a:ea typeface="Calibri" pitchFamily="34" charset="-122"/>
                <a:cs typeface="Calibri" pitchFamily="34" charset="-120"/>
              </a:rPr>
              <a:t>Cities need two things working together: (1) an early signal of where flood risk is building up, and (2) a fast, fair way for residents to report problems and get them routed correctly. Today these are disconnected, reactive, and person-dependent. UrbanGuard AI connects them into one AI-assisted workflow.</a:t>
            </a:r>
            <a:endParaRPr lang="en-US" sz="1300" dirty="0"/>
          </a:p>
        </p:txBody>
      </p:sp>
      <p:sp>
        <p:nvSpPr>
          <p:cNvPr id="25" name="Text 19"/>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6" name="Text 20"/>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SDG ALIGNMENT</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Mapped to the UN Sustainable Development Goals</a:t>
            </a:r>
            <a:endParaRPr lang="en-US" sz="3000" dirty="0"/>
          </a:p>
        </p:txBody>
      </p:sp>
      <p:sp>
        <p:nvSpPr>
          <p:cNvPr id="4" name="Shape 2"/>
          <p:cNvSpPr/>
          <p:nvPr/>
        </p:nvSpPr>
        <p:spPr>
          <a:xfrm>
            <a:off x="548640" y="1554480"/>
            <a:ext cx="5349240" cy="4480560"/>
          </a:xfrm>
          <a:prstGeom prst="roundRect">
            <a:avLst>
              <a:gd name="adj" fmla="val 2041"/>
            </a:avLst>
          </a:prstGeom>
          <a:solidFill>
            <a:srgbClr val="EAF3F6"/>
          </a:solidFill>
          <a:ln w="15875">
            <a:solidFill>
              <a:srgbClr val="1C7293"/>
            </a:solidFill>
            <a:prstDash val="solid"/>
          </a:ln>
        </p:spPr>
      </p:sp>
      <p:sp>
        <p:nvSpPr>
          <p:cNvPr id="5" name="Shape 3"/>
          <p:cNvSpPr/>
          <p:nvPr/>
        </p:nvSpPr>
        <p:spPr>
          <a:xfrm>
            <a:off x="914400" y="1874520"/>
            <a:ext cx="914400" cy="914400"/>
          </a:xfrm>
          <a:prstGeom prst="ellipse">
            <a:avLst/>
          </a:prstGeom>
          <a:solidFill>
            <a:srgbClr val="0B3D62"/>
          </a:solidFill>
          <a:ln/>
        </p:spPr>
      </p:sp>
      <p:pic>
        <p:nvPicPr>
          <p:cNvPr id="6" name="Image 0" descr="icons/city.png">    </p:cNvPr>
          <p:cNvPicPr>
            <a:picLocks noChangeAspect="1"/>
          </p:cNvPicPr>
          <p:nvPr/>
        </p:nvPicPr>
        <p:blipFill>
          <a:blip r:embed="rId1"/>
          <a:stretch>
            <a:fillRect/>
          </a:stretch>
        </p:blipFill>
        <p:spPr>
          <a:xfrm>
            <a:off x="1120140" y="2080260"/>
            <a:ext cx="502920" cy="502920"/>
          </a:xfrm>
          <a:prstGeom prst="rect">
            <a:avLst/>
          </a:prstGeom>
        </p:spPr>
      </p:pic>
      <p:sp>
        <p:nvSpPr>
          <p:cNvPr id="7" name="Text 4"/>
          <p:cNvSpPr txBox="1"/>
          <p:nvPr/>
        </p:nvSpPr>
        <p:spPr>
          <a:xfrm>
            <a:off x="2057400" y="1874520"/>
            <a:ext cx="3657600" cy="274320"/>
          </a:xfrm>
          <a:prstGeom prst="rect">
            <a:avLst/>
          </a:prstGeom>
          <a:noFill/>
          <a:ln/>
        </p:spPr>
        <p:txBody>
          <a:bodyPr wrap="square" lIns="0" tIns="0" rIns="0" bIns="0" rtlCol="0" anchor="ctr"/>
          <a:lstStyle/>
          <a:p>
            <a:pPr indent="0" marL="0">
              <a:buNone/>
            </a:pPr>
            <a:r>
              <a:rPr lang="en-US" sz="1100" b="1" dirty="0">
                <a:solidFill>
                  <a:srgbClr val="C97F12"/>
                </a:solidFill>
                <a:latin typeface="Calibri" pitchFamily="34" charset="0"/>
                <a:ea typeface="Calibri" pitchFamily="34" charset="-122"/>
                <a:cs typeface="Calibri" pitchFamily="34" charset="-120"/>
              </a:rPr>
              <a:t>PRIMARY</a:t>
            </a:r>
            <a:endParaRPr lang="en-US" sz="1100" dirty="0"/>
          </a:p>
        </p:txBody>
      </p:sp>
      <p:sp>
        <p:nvSpPr>
          <p:cNvPr id="8" name="Text 5"/>
          <p:cNvSpPr txBox="1"/>
          <p:nvPr/>
        </p:nvSpPr>
        <p:spPr>
          <a:xfrm>
            <a:off x="2057400" y="2103120"/>
            <a:ext cx="3657600" cy="777240"/>
          </a:xfrm>
          <a:prstGeom prst="rect">
            <a:avLst/>
          </a:prstGeom>
          <a:noFill/>
          <a:ln/>
        </p:spPr>
        <p:txBody>
          <a:bodyPr wrap="square" lIns="0" tIns="0" rIns="0" bIns="0" rtlCol="0" anchor="ctr"/>
          <a:lstStyle/>
          <a:p>
            <a:pPr indent="0" marL="0">
              <a:lnSpc>
                <a:spcPts val="2000"/>
              </a:lnSpc>
              <a:buNone/>
            </a:pPr>
            <a:r>
              <a:rPr lang="en-US" sz="1700" b="1" dirty="0">
                <a:solidFill>
                  <a:srgbClr val="0B3D62"/>
                </a:solidFill>
                <a:latin typeface="Cambria" pitchFamily="34" charset="0"/>
                <a:ea typeface="Cambria" pitchFamily="34" charset="-122"/>
                <a:cs typeface="Cambria" pitchFamily="34" charset="-120"/>
              </a:rPr>
              <a:t>SDG 11 — Sustainable Cities</a:t>
            </a:r>
            <a:endParaRPr lang="en-US" sz="1700" dirty="0"/>
          </a:p>
          <a:p>
            <a:pPr indent="0" marL="0">
              <a:lnSpc>
                <a:spcPts val="2000"/>
              </a:lnSpc>
              <a:buNone/>
            </a:pPr>
            <a:r>
              <a:rPr lang="en-US" sz="1700" b="1" dirty="0">
                <a:solidFill>
                  <a:srgbClr val="0B3D62"/>
                </a:solidFill>
                <a:latin typeface="Cambria" pitchFamily="34" charset="0"/>
                <a:ea typeface="Cambria" pitchFamily="34" charset="-122"/>
                <a:cs typeface="Cambria" pitchFamily="34" charset="-120"/>
              </a:rPr>
              <a:t>and Communities</a:t>
            </a:r>
            <a:endParaRPr lang="en-US" sz="1700" dirty="0"/>
          </a:p>
        </p:txBody>
      </p:sp>
      <p:sp>
        <p:nvSpPr>
          <p:cNvPr id="9" name="Text 6"/>
          <p:cNvSpPr txBox="1"/>
          <p:nvPr/>
        </p:nvSpPr>
        <p:spPr>
          <a:xfrm>
            <a:off x="914400" y="3063240"/>
            <a:ext cx="4709160" cy="1005840"/>
          </a:xfrm>
          <a:prstGeom prst="rect">
            <a:avLst/>
          </a:prstGeom>
          <a:noFill/>
          <a:ln/>
        </p:spPr>
        <p:txBody>
          <a:bodyPr wrap="square" lIns="0" tIns="0" rIns="0" bIns="0" rtlCol="0" anchor="ctr"/>
          <a:lstStyle/>
          <a:p>
            <a:pPr indent="0" marL="0">
              <a:lnSpc>
                <a:spcPts val="1900"/>
              </a:lnSpc>
              <a:buNone/>
            </a:pPr>
            <a:r>
              <a:rPr lang="en-US" sz="1300" dirty="0">
                <a:solidFill>
                  <a:srgbClr val="1B2A38"/>
                </a:solidFill>
                <a:latin typeface="Calibri" pitchFamily="34" charset="0"/>
                <a:ea typeface="Calibri" pitchFamily="34" charset="-122"/>
                <a:cs typeface="Calibri" pitchFamily="34" charset="-120"/>
              </a:rPr>
              <a:t>UrbanGuard AI directly targets making urban settlements safer and more resilient by helping municipal bodies anticipate flood-prone areas and resolve drainage-related civic complaints faster.</a:t>
            </a:r>
            <a:endParaRPr lang="en-US" sz="1300" dirty="0"/>
          </a:p>
        </p:txBody>
      </p:sp>
      <p:sp>
        <p:nvSpPr>
          <p:cNvPr id="10" name="Shape 7"/>
          <p:cNvSpPr/>
          <p:nvPr/>
        </p:nvSpPr>
        <p:spPr>
          <a:xfrm>
            <a:off x="914400" y="4251960"/>
            <a:ext cx="146304" cy="146304"/>
          </a:xfrm>
          <a:prstGeom prst="ellipse">
            <a:avLst/>
          </a:prstGeom>
          <a:solidFill>
            <a:srgbClr val="1C7293"/>
          </a:solidFill>
          <a:ln/>
        </p:spPr>
      </p:sp>
      <p:sp>
        <p:nvSpPr>
          <p:cNvPr id="11" name="Text 8"/>
          <p:cNvSpPr txBox="1"/>
          <p:nvPr/>
        </p:nvSpPr>
        <p:spPr>
          <a:xfrm>
            <a:off x="1188720" y="416052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Faster, prioritized civic complaint resolution</a:t>
            </a:r>
            <a:endParaRPr lang="en-US" sz="1250" dirty="0"/>
          </a:p>
        </p:txBody>
      </p:sp>
      <p:sp>
        <p:nvSpPr>
          <p:cNvPr id="12" name="Shape 9"/>
          <p:cNvSpPr/>
          <p:nvPr/>
        </p:nvSpPr>
        <p:spPr>
          <a:xfrm>
            <a:off x="914400" y="4754880"/>
            <a:ext cx="146304" cy="146304"/>
          </a:xfrm>
          <a:prstGeom prst="ellipse">
            <a:avLst/>
          </a:prstGeom>
          <a:solidFill>
            <a:srgbClr val="1C7293"/>
          </a:solidFill>
          <a:ln/>
        </p:spPr>
      </p:sp>
      <p:sp>
        <p:nvSpPr>
          <p:cNvPr id="13" name="Text 10"/>
          <p:cNvSpPr txBox="1"/>
          <p:nvPr/>
        </p:nvSpPr>
        <p:spPr>
          <a:xfrm>
            <a:off x="1188720" y="466344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Predictive risk visibility for ward officers</a:t>
            </a:r>
            <a:endParaRPr lang="en-US" sz="1250" dirty="0"/>
          </a:p>
        </p:txBody>
      </p:sp>
      <p:sp>
        <p:nvSpPr>
          <p:cNvPr id="14" name="Shape 11"/>
          <p:cNvSpPr/>
          <p:nvPr/>
        </p:nvSpPr>
        <p:spPr>
          <a:xfrm>
            <a:off x="914400" y="5257800"/>
            <a:ext cx="146304" cy="146304"/>
          </a:xfrm>
          <a:prstGeom prst="ellipse">
            <a:avLst/>
          </a:prstGeom>
          <a:solidFill>
            <a:srgbClr val="1C7293"/>
          </a:solidFill>
          <a:ln/>
        </p:spPr>
      </p:sp>
      <p:sp>
        <p:nvSpPr>
          <p:cNvPr id="15" name="Text 12"/>
          <p:cNvSpPr txBox="1"/>
          <p:nvPr/>
        </p:nvSpPr>
        <p:spPr>
          <a:xfrm>
            <a:off x="1188720" y="516636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Reduced property and infrastructure damage</a:t>
            </a:r>
            <a:endParaRPr lang="en-US" sz="1250" dirty="0"/>
          </a:p>
        </p:txBody>
      </p:sp>
      <p:sp>
        <p:nvSpPr>
          <p:cNvPr id="16" name="Shape 13"/>
          <p:cNvSpPr/>
          <p:nvPr/>
        </p:nvSpPr>
        <p:spPr>
          <a:xfrm>
            <a:off x="6263640" y="1554480"/>
            <a:ext cx="5349240" cy="4480560"/>
          </a:xfrm>
          <a:prstGeom prst="roundRect">
            <a:avLst>
              <a:gd name="adj" fmla="val 2041"/>
            </a:avLst>
          </a:prstGeom>
          <a:solidFill>
            <a:srgbClr val="FDF3E4"/>
          </a:solidFill>
          <a:ln w="15875">
            <a:solidFill>
              <a:srgbClr val="F2A93B"/>
            </a:solidFill>
            <a:prstDash val="solid"/>
          </a:ln>
        </p:spPr>
      </p:sp>
      <p:sp>
        <p:nvSpPr>
          <p:cNvPr id="17" name="Shape 14"/>
          <p:cNvSpPr/>
          <p:nvPr/>
        </p:nvSpPr>
        <p:spPr>
          <a:xfrm>
            <a:off x="6629400" y="1874520"/>
            <a:ext cx="914400" cy="914400"/>
          </a:xfrm>
          <a:prstGeom prst="ellipse">
            <a:avLst/>
          </a:prstGeom>
          <a:solidFill>
            <a:srgbClr val="C97F12"/>
          </a:solidFill>
          <a:ln/>
        </p:spPr>
      </p:sp>
      <p:pic>
        <p:nvPicPr>
          <p:cNvPr id="18" name="Image 1" descr="icons/cloud.png">    </p:cNvPr>
          <p:cNvPicPr>
            <a:picLocks noChangeAspect="1"/>
          </p:cNvPicPr>
          <p:nvPr/>
        </p:nvPicPr>
        <p:blipFill>
          <a:blip r:embed="rId2"/>
          <a:stretch>
            <a:fillRect/>
          </a:stretch>
        </p:blipFill>
        <p:spPr>
          <a:xfrm>
            <a:off x="6835140" y="2080260"/>
            <a:ext cx="502920" cy="502920"/>
          </a:xfrm>
          <a:prstGeom prst="rect">
            <a:avLst/>
          </a:prstGeom>
        </p:spPr>
      </p:pic>
      <p:sp>
        <p:nvSpPr>
          <p:cNvPr id="19" name="Text 15"/>
          <p:cNvSpPr txBox="1"/>
          <p:nvPr/>
        </p:nvSpPr>
        <p:spPr>
          <a:xfrm>
            <a:off x="7772400" y="1874520"/>
            <a:ext cx="3657600" cy="274320"/>
          </a:xfrm>
          <a:prstGeom prst="rect">
            <a:avLst/>
          </a:prstGeom>
          <a:noFill/>
          <a:ln/>
        </p:spPr>
        <p:txBody>
          <a:bodyPr wrap="square" lIns="0" tIns="0" rIns="0" bIns="0" rtlCol="0" anchor="ctr"/>
          <a:lstStyle/>
          <a:p>
            <a:pPr indent="0" marL="0">
              <a:buNone/>
            </a:pPr>
            <a:r>
              <a:rPr lang="en-US" sz="1100" b="1" dirty="0">
                <a:solidFill>
                  <a:srgbClr val="C97F12"/>
                </a:solidFill>
                <a:latin typeface="Calibri" pitchFamily="34" charset="0"/>
                <a:ea typeface="Calibri" pitchFamily="34" charset="-122"/>
                <a:cs typeface="Calibri" pitchFamily="34" charset="-120"/>
              </a:rPr>
              <a:t>SECONDARY</a:t>
            </a:r>
            <a:endParaRPr lang="en-US" sz="1100" dirty="0"/>
          </a:p>
        </p:txBody>
      </p:sp>
      <p:sp>
        <p:nvSpPr>
          <p:cNvPr id="20" name="Text 16"/>
          <p:cNvSpPr txBox="1"/>
          <p:nvPr/>
        </p:nvSpPr>
        <p:spPr>
          <a:xfrm>
            <a:off x="7772400" y="2103120"/>
            <a:ext cx="3657600" cy="777240"/>
          </a:xfrm>
          <a:prstGeom prst="rect">
            <a:avLst/>
          </a:prstGeom>
          <a:noFill/>
          <a:ln/>
        </p:spPr>
        <p:txBody>
          <a:bodyPr wrap="square" lIns="0" tIns="0" rIns="0" bIns="0" rtlCol="0" anchor="ctr"/>
          <a:lstStyle/>
          <a:p>
            <a:pPr indent="0" marL="0">
              <a:lnSpc>
                <a:spcPts val="2000"/>
              </a:lnSpc>
              <a:buNone/>
            </a:pPr>
            <a:r>
              <a:rPr lang="en-US" sz="1700" b="1" dirty="0">
                <a:solidFill>
                  <a:srgbClr val="0B3D62"/>
                </a:solidFill>
                <a:latin typeface="Cambria" pitchFamily="34" charset="0"/>
                <a:ea typeface="Cambria" pitchFamily="34" charset="-122"/>
                <a:cs typeface="Cambria" pitchFamily="34" charset="-120"/>
              </a:rPr>
              <a:t>SDG 13 — Climate Action</a:t>
            </a:r>
            <a:endParaRPr lang="en-US" sz="1700" dirty="0"/>
          </a:p>
        </p:txBody>
      </p:sp>
      <p:sp>
        <p:nvSpPr>
          <p:cNvPr id="21" name="Text 17"/>
          <p:cNvSpPr txBox="1"/>
          <p:nvPr/>
        </p:nvSpPr>
        <p:spPr>
          <a:xfrm>
            <a:off x="6629400" y="3063240"/>
            <a:ext cx="4709160" cy="1005840"/>
          </a:xfrm>
          <a:prstGeom prst="rect">
            <a:avLst/>
          </a:prstGeom>
          <a:noFill/>
          <a:ln/>
        </p:spPr>
        <p:txBody>
          <a:bodyPr wrap="square" lIns="0" tIns="0" rIns="0" bIns="0" rtlCol="0" anchor="ctr"/>
          <a:lstStyle/>
          <a:p>
            <a:pPr indent="0" marL="0">
              <a:lnSpc>
                <a:spcPts val="1900"/>
              </a:lnSpc>
              <a:buNone/>
            </a:pPr>
            <a:r>
              <a:rPr lang="en-US" sz="1300" dirty="0">
                <a:solidFill>
                  <a:srgbClr val="1B2A38"/>
                </a:solidFill>
                <a:latin typeface="Calibri" pitchFamily="34" charset="0"/>
                <a:ea typeface="Calibri" pitchFamily="34" charset="-122"/>
                <a:cs typeface="Calibri" pitchFamily="34" charset="-120"/>
              </a:rPr>
              <a:t>By turning rainfall, terrain and historic complaint data into an early flood-risk signal, the project strengthens a city's capacity for climate adaptation, early warning and disaster-risk reduction.</a:t>
            </a:r>
            <a:endParaRPr lang="en-US" sz="1300" dirty="0"/>
          </a:p>
        </p:txBody>
      </p:sp>
      <p:sp>
        <p:nvSpPr>
          <p:cNvPr id="22" name="Shape 18"/>
          <p:cNvSpPr/>
          <p:nvPr/>
        </p:nvSpPr>
        <p:spPr>
          <a:xfrm>
            <a:off x="6629400" y="4251960"/>
            <a:ext cx="146304" cy="146304"/>
          </a:xfrm>
          <a:prstGeom prst="ellipse">
            <a:avLst/>
          </a:prstGeom>
          <a:solidFill>
            <a:srgbClr val="C97F12"/>
          </a:solidFill>
          <a:ln/>
        </p:spPr>
      </p:sp>
      <p:sp>
        <p:nvSpPr>
          <p:cNvPr id="23" name="Text 19"/>
          <p:cNvSpPr txBox="1"/>
          <p:nvPr/>
        </p:nvSpPr>
        <p:spPr>
          <a:xfrm>
            <a:off x="6903720" y="416052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Ward-level early warning for extreme rainfall</a:t>
            </a:r>
            <a:endParaRPr lang="en-US" sz="1250" dirty="0"/>
          </a:p>
        </p:txBody>
      </p:sp>
      <p:sp>
        <p:nvSpPr>
          <p:cNvPr id="24" name="Shape 20"/>
          <p:cNvSpPr/>
          <p:nvPr/>
        </p:nvSpPr>
        <p:spPr>
          <a:xfrm>
            <a:off x="6629400" y="4754880"/>
            <a:ext cx="146304" cy="146304"/>
          </a:xfrm>
          <a:prstGeom prst="ellipse">
            <a:avLst/>
          </a:prstGeom>
          <a:solidFill>
            <a:srgbClr val="C97F12"/>
          </a:solidFill>
          <a:ln/>
        </p:spPr>
      </p:sp>
      <p:sp>
        <p:nvSpPr>
          <p:cNvPr id="25" name="Text 21"/>
          <p:cNvSpPr txBox="1"/>
          <p:nvPr/>
        </p:nvSpPr>
        <p:spPr>
          <a:xfrm>
            <a:off x="6903720" y="466344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Data trail to guide long-term drainage planning</a:t>
            </a:r>
            <a:endParaRPr lang="en-US" sz="1250" dirty="0"/>
          </a:p>
        </p:txBody>
      </p:sp>
      <p:sp>
        <p:nvSpPr>
          <p:cNvPr id="26" name="Shape 22"/>
          <p:cNvSpPr/>
          <p:nvPr/>
        </p:nvSpPr>
        <p:spPr>
          <a:xfrm>
            <a:off x="6629400" y="5257800"/>
            <a:ext cx="146304" cy="146304"/>
          </a:xfrm>
          <a:prstGeom prst="ellipse">
            <a:avLst/>
          </a:prstGeom>
          <a:solidFill>
            <a:srgbClr val="C97F12"/>
          </a:solidFill>
          <a:ln/>
        </p:spPr>
      </p:sp>
      <p:sp>
        <p:nvSpPr>
          <p:cNvPr id="27" name="Text 23"/>
          <p:cNvSpPr txBox="1"/>
          <p:nvPr/>
        </p:nvSpPr>
        <p:spPr>
          <a:xfrm>
            <a:off x="6903720" y="5166360"/>
            <a:ext cx="4480560" cy="365760"/>
          </a:xfrm>
          <a:prstGeom prst="rect">
            <a:avLst/>
          </a:prstGeom>
          <a:noFill/>
          <a:ln/>
        </p:spPr>
        <p:txBody>
          <a:bodyPr wrap="square" lIns="0" tIns="0" rIns="0" bIns="0" rtlCol="0" anchor="ctr"/>
          <a:lstStyle/>
          <a:p>
            <a:pPr indent="0" marL="0">
              <a:buNone/>
            </a:pPr>
            <a:r>
              <a:rPr lang="en-US" sz="1250" dirty="0">
                <a:solidFill>
                  <a:srgbClr val="1B2A38"/>
                </a:solidFill>
                <a:latin typeface="Calibri" pitchFamily="34" charset="0"/>
                <a:ea typeface="Calibri" pitchFamily="34" charset="-122"/>
                <a:cs typeface="Calibri" pitchFamily="34" charset="-120"/>
              </a:rPr>
              <a:t>Supports climate-resilient infrastructure decisions</a:t>
            </a:r>
            <a:endParaRPr lang="en-US" sz="1250" dirty="0"/>
          </a:p>
        </p:txBody>
      </p:sp>
      <p:sp>
        <p:nvSpPr>
          <p:cNvPr id="28" name="Text 24"/>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9" name="Text 25"/>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PROBLEM STATEMENT</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Defining the Problem</a:t>
            </a:r>
            <a:endParaRPr lang="en-US" sz="3000" dirty="0"/>
          </a:p>
        </p:txBody>
      </p:sp>
      <p:sp>
        <p:nvSpPr>
          <p:cNvPr id="4" name="Shape 2"/>
          <p:cNvSpPr/>
          <p:nvPr/>
        </p:nvSpPr>
        <p:spPr>
          <a:xfrm>
            <a:off x="548640" y="1508760"/>
            <a:ext cx="11064240" cy="1600200"/>
          </a:xfrm>
          <a:prstGeom prst="roundRect">
            <a:avLst>
              <a:gd name="adj" fmla="val 5714"/>
            </a:avLst>
          </a:prstGeom>
          <a:solidFill>
            <a:srgbClr val="0B3D62"/>
          </a:solidFill>
          <a:ln/>
        </p:spPr>
      </p:sp>
      <p:sp>
        <p:nvSpPr>
          <p:cNvPr id="5" name="Text 3"/>
          <p:cNvSpPr txBox="1"/>
          <p:nvPr/>
        </p:nvSpPr>
        <p:spPr>
          <a:xfrm>
            <a:off x="868680" y="1691640"/>
            <a:ext cx="10424160" cy="1234440"/>
          </a:xfrm>
          <a:prstGeom prst="rect">
            <a:avLst/>
          </a:prstGeom>
          <a:noFill/>
          <a:ln/>
        </p:spPr>
        <p:txBody>
          <a:bodyPr wrap="square" lIns="0" tIns="0" rIns="0" bIns="0" rtlCol="0" anchor="ctr"/>
          <a:lstStyle/>
          <a:p>
            <a:pPr indent="0" marL="0">
              <a:lnSpc>
                <a:spcPts val="2700"/>
              </a:lnSpc>
              <a:buNone/>
            </a:pPr>
            <a:r>
              <a:rPr lang="en-US" sz="1900" i="1" dirty="0">
                <a:solidFill>
                  <a:srgbClr val="FFFFFF"/>
                </a:solidFill>
                <a:latin typeface="Cambria" pitchFamily="34" charset="0"/>
                <a:ea typeface="Cambria" pitchFamily="34" charset="-122"/>
                <a:cs typeface="Cambria" pitchFamily="34" charset="-120"/>
              </a:rPr>
              <a:t>How might we use AI </a:t>
            </a:r>
            <a:pPr indent="0" marL="0">
              <a:lnSpc>
                <a:spcPts val="2700"/>
              </a:lnSpc>
              <a:buNone/>
            </a:pPr>
            <a:r>
              <a:rPr lang="en-US" sz="1900" b="1" i="1" dirty="0">
                <a:solidFill>
                  <a:srgbClr val="F2A93B"/>
                </a:solidFill>
                <a:latin typeface="Cambria" pitchFamily="34" charset="0"/>
                <a:ea typeface="Cambria" pitchFamily="34" charset="-122"/>
                <a:cs typeface="Cambria" pitchFamily="34" charset="-120"/>
              </a:rPr>
              <a:t>to predict flood-risk hotspots and triage citizen drainage complaints in real time</a:t>
            </a:r>
            <a:pPr indent="0" marL="0">
              <a:lnSpc>
                <a:spcPts val="2700"/>
              </a:lnSpc>
              <a:buNone/>
            </a:pPr>
            <a:r>
              <a:rPr lang="en-US" sz="1900" i="1" dirty="0">
                <a:solidFill>
                  <a:srgbClr val="FFFFFF"/>
                </a:solidFill>
                <a:latin typeface="Cambria" pitchFamily="34" charset="0"/>
                <a:ea typeface="Cambria" pitchFamily="34" charset="-122"/>
                <a:cs typeface="Cambria" pitchFamily="34" charset="-120"/>
              </a:rPr>
              <a:t>, so that </a:t>
            </a:r>
            <a:pPr indent="0" marL="0">
              <a:lnSpc>
                <a:spcPts val="2700"/>
              </a:lnSpc>
              <a:buNone/>
            </a:pPr>
            <a:r>
              <a:rPr lang="en-US" sz="1900" b="1" i="1" dirty="0">
                <a:solidFill>
                  <a:srgbClr val="F2A93B"/>
                </a:solidFill>
                <a:latin typeface="Cambria" pitchFamily="34" charset="0"/>
                <a:ea typeface="Cambria" pitchFamily="34" charset="-122"/>
                <a:cs typeface="Cambria" pitchFamily="34" charset="-120"/>
              </a:rPr>
              <a:t>residents and municipal teams can respond faster and reduce climate-linked urban damage</a:t>
            </a:r>
            <a:pPr indent="0" marL="0">
              <a:lnSpc>
                <a:spcPts val="2700"/>
              </a:lnSpc>
              <a:buNone/>
            </a:pPr>
            <a:r>
              <a:rPr lang="en-US" sz="1900" i="1" dirty="0">
                <a:solidFill>
                  <a:srgbClr val="FFFFFF"/>
                </a:solidFill>
                <a:latin typeface="Cambria" pitchFamily="34" charset="0"/>
                <a:ea typeface="Cambria" pitchFamily="34" charset="-122"/>
                <a:cs typeface="Cambria" pitchFamily="34" charset="-120"/>
              </a:rPr>
              <a:t>?</a:t>
            </a:r>
            <a:endParaRPr lang="en-US" sz="1900" dirty="0"/>
          </a:p>
        </p:txBody>
      </p:sp>
      <p:sp>
        <p:nvSpPr>
          <p:cNvPr id="6" name="Shape 4"/>
          <p:cNvSpPr/>
          <p:nvPr/>
        </p:nvSpPr>
        <p:spPr>
          <a:xfrm>
            <a:off x="548640" y="3429000"/>
            <a:ext cx="3538728" cy="2606040"/>
          </a:xfrm>
          <a:prstGeom prst="roundRect">
            <a:avLst>
              <a:gd name="adj" fmla="val 2807"/>
            </a:avLst>
          </a:prstGeom>
          <a:solidFill>
            <a:srgbClr val="F5F9FA"/>
          </a:solidFill>
          <a:ln/>
        </p:spPr>
      </p:sp>
      <p:sp>
        <p:nvSpPr>
          <p:cNvPr id="7" name="Shape 5"/>
          <p:cNvSpPr/>
          <p:nvPr/>
        </p:nvSpPr>
        <p:spPr>
          <a:xfrm>
            <a:off x="822960" y="3657600"/>
            <a:ext cx="594360" cy="594360"/>
          </a:xfrm>
          <a:prstGeom prst="ellipse">
            <a:avLst/>
          </a:prstGeom>
          <a:solidFill>
            <a:srgbClr val="1C7293"/>
          </a:solidFill>
          <a:ln/>
        </p:spPr>
      </p:sp>
      <p:pic>
        <p:nvPicPr>
          <p:cNvPr id="8" name="Image 0" descr="icons/users.png">    </p:cNvPr>
          <p:cNvPicPr>
            <a:picLocks noChangeAspect="1"/>
          </p:cNvPicPr>
          <p:nvPr/>
        </p:nvPicPr>
        <p:blipFill>
          <a:blip r:embed="rId1"/>
          <a:stretch>
            <a:fillRect/>
          </a:stretch>
        </p:blipFill>
        <p:spPr>
          <a:xfrm>
            <a:off x="956691" y="3791331"/>
            <a:ext cx="326898" cy="326898"/>
          </a:xfrm>
          <a:prstGeom prst="rect">
            <a:avLst/>
          </a:prstGeom>
        </p:spPr>
      </p:pic>
      <p:sp>
        <p:nvSpPr>
          <p:cNvPr id="9" name="Text 6"/>
          <p:cNvSpPr txBox="1"/>
          <p:nvPr/>
        </p:nvSpPr>
        <p:spPr>
          <a:xfrm>
            <a:off x="1554480" y="3730752"/>
            <a:ext cx="2377440" cy="457200"/>
          </a:xfrm>
          <a:prstGeom prst="rect">
            <a:avLst/>
          </a:prstGeom>
          <a:noFill/>
          <a:ln/>
        </p:spPr>
        <p:txBody>
          <a:bodyPr wrap="square" lIns="0" tIns="0" rIns="0" bIns="0"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Target Users</a:t>
            </a:r>
            <a:endParaRPr lang="en-US" sz="1450" dirty="0"/>
          </a:p>
        </p:txBody>
      </p:sp>
      <p:sp>
        <p:nvSpPr>
          <p:cNvPr id="10" name="Shape 7"/>
          <p:cNvSpPr/>
          <p:nvPr/>
        </p:nvSpPr>
        <p:spPr>
          <a:xfrm>
            <a:off x="822960" y="4526280"/>
            <a:ext cx="109728" cy="109728"/>
          </a:xfrm>
          <a:prstGeom prst="ellipse">
            <a:avLst/>
          </a:prstGeom>
          <a:solidFill>
            <a:srgbClr val="C97F12"/>
          </a:solidFill>
          <a:ln/>
        </p:spPr>
      </p:sp>
      <p:sp>
        <p:nvSpPr>
          <p:cNvPr id="11" name="Text 8"/>
          <p:cNvSpPr txBox="1"/>
          <p:nvPr/>
        </p:nvSpPr>
        <p:spPr>
          <a:xfrm>
            <a:off x="1051560" y="444398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City residents in flood-prone wards</a:t>
            </a:r>
            <a:endParaRPr lang="en-US" sz="1150" dirty="0"/>
          </a:p>
        </p:txBody>
      </p:sp>
      <p:sp>
        <p:nvSpPr>
          <p:cNvPr id="12" name="Shape 9"/>
          <p:cNvSpPr/>
          <p:nvPr/>
        </p:nvSpPr>
        <p:spPr>
          <a:xfrm>
            <a:off x="822960" y="5029200"/>
            <a:ext cx="109728" cy="109728"/>
          </a:xfrm>
          <a:prstGeom prst="ellipse">
            <a:avLst/>
          </a:prstGeom>
          <a:solidFill>
            <a:srgbClr val="C97F12"/>
          </a:solidFill>
          <a:ln/>
        </p:spPr>
      </p:sp>
      <p:sp>
        <p:nvSpPr>
          <p:cNvPr id="13" name="Text 10"/>
          <p:cNvSpPr txBox="1"/>
          <p:nvPr/>
        </p:nvSpPr>
        <p:spPr>
          <a:xfrm>
            <a:off x="1051560" y="494690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Municipal drainage &amp; disaster-mgmt staff</a:t>
            </a:r>
            <a:endParaRPr lang="en-US" sz="1150" dirty="0"/>
          </a:p>
        </p:txBody>
      </p:sp>
      <p:sp>
        <p:nvSpPr>
          <p:cNvPr id="14" name="Shape 11"/>
          <p:cNvSpPr/>
          <p:nvPr/>
        </p:nvSpPr>
        <p:spPr>
          <a:xfrm>
            <a:off x="822960" y="5532120"/>
            <a:ext cx="109728" cy="109728"/>
          </a:xfrm>
          <a:prstGeom prst="ellipse">
            <a:avLst/>
          </a:prstGeom>
          <a:solidFill>
            <a:srgbClr val="C97F12"/>
          </a:solidFill>
          <a:ln/>
        </p:spPr>
      </p:sp>
      <p:sp>
        <p:nvSpPr>
          <p:cNvPr id="15" name="Text 12"/>
          <p:cNvSpPr txBox="1"/>
          <p:nvPr/>
        </p:nvSpPr>
        <p:spPr>
          <a:xfrm>
            <a:off x="1051560" y="544982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Local ward officers &amp; repair crews</a:t>
            </a:r>
            <a:endParaRPr lang="en-US" sz="1150" dirty="0"/>
          </a:p>
        </p:txBody>
      </p:sp>
      <p:sp>
        <p:nvSpPr>
          <p:cNvPr id="16" name="Shape 13"/>
          <p:cNvSpPr/>
          <p:nvPr/>
        </p:nvSpPr>
        <p:spPr>
          <a:xfrm>
            <a:off x="4325112" y="3429000"/>
            <a:ext cx="3538728" cy="2606040"/>
          </a:xfrm>
          <a:prstGeom prst="roundRect">
            <a:avLst>
              <a:gd name="adj" fmla="val 2807"/>
            </a:avLst>
          </a:prstGeom>
          <a:solidFill>
            <a:srgbClr val="F5F9FA"/>
          </a:solidFill>
          <a:ln/>
        </p:spPr>
      </p:sp>
      <p:sp>
        <p:nvSpPr>
          <p:cNvPr id="17" name="Shape 14"/>
          <p:cNvSpPr/>
          <p:nvPr/>
        </p:nvSpPr>
        <p:spPr>
          <a:xfrm>
            <a:off x="4599432" y="3657600"/>
            <a:ext cx="594360" cy="594360"/>
          </a:xfrm>
          <a:prstGeom prst="ellipse">
            <a:avLst/>
          </a:prstGeom>
          <a:solidFill>
            <a:srgbClr val="1C7293"/>
          </a:solidFill>
          <a:ln/>
        </p:spPr>
      </p:sp>
      <p:pic>
        <p:nvPicPr>
          <p:cNvPr id="18" name="Image 1" descr="icons/database.png">    </p:cNvPr>
          <p:cNvPicPr>
            <a:picLocks noChangeAspect="1"/>
          </p:cNvPicPr>
          <p:nvPr/>
        </p:nvPicPr>
        <p:blipFill>
          <a:blip r:embed="rId2"/>
          <a:stretch>
            <a:fillRect/>
          </a:stretch>
        </p:blipFill>
        <p:spPr>
          <a:xfrm>
            <a:off x="4733163" y="3791331"/>
            <a:ext cx="326898" cy="326898"/>
          </a:xfrm>
          <a:prstGeom prst="rect">
            <a:avLst/>
          </a:prstGeom>
        </p:spPr>
      </p:pic>
      <p:sp>
        <p:nvSpPr>
          <p:cNvPr id="19" name="Text 15"/>
          <p:cNvSpPr txBox="1"/>
          <p:nvPr/>
        </p:nvSpPr>
        <p:spPr>
          <a:xfrm>
            <a:off x="5330952" y="3730752"/>
            <a:ext cx="2377440" cy="457200"/>
          </a:xfrm>
          <a:prstGeom prst="rect">
            <a:avLst/>
          </a:prstGeom>
          <a:noFill/>
          <a:ln/>
        </p:spPr>
        <p:txBody>
          <a:bodyPr wrap="square" lIns="0" tIns="0" rIns="0" bIns="0"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Data Involved</a:t>
            </a:r>
            <a:endParaRPr lang="en-US" sz="1450" dirty="0"/>
          </a:p>
        </p:txBody>
      </p:sp>
      <p:sp>
        <p:nvSpPr>
          <p:cNvPr id="20" name="Shape 16"/>
          <p:cNvSpPr/>
          <p:nvPr/>
        </p:nvSpPr>
        <p:spPr>
          <a:xfrm>
            <a:off x="4599432" y="4526280"/>
            <a:ext cx="109728" cy="109728"/>
          </a:xfrm>
          <a:prstGeom prst="ellipse">
            <a:avLst/>
          </a:prstGeom>
          <a:solidFill>
            <a:srgbClr val="C97F12"/>
          </a:solidFill>
          <a:ln/>
        </p:spPr>
      </p:sp>
      <p:sp>
        <p:nvSpPr>
          <p:cNvPr id="21" name="Text 17"/>
          <p:cNvSpPr txBox="1"/>
          <p:nvPr/>
        </p:nvSpPr>
        <p:spPr>
          <a:xfrm>
            <a:off x="4828032" y="444398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Rainfall &amp; weather-station feeds</a:t>
            </a:r>
            <a:endParaRPr lang="en-US" sz="1150" dirty="0"/>
          </a:p>
        </p:txBody>
      </p:sp>
      <p:sp>
        <p:nvSpPr>
          <p:cNvPr id="22" name="Shape 18"/>
          <p:cNvSpPr/>
          <p:nvPr/>
        </p:nvSpPr>
        <p:spPr>
          <a:xfrm>
            <a:off x="4599432" y="5029200"/>
            <a:ext cx="109728" cy="109728"/>
          </a:xfrm>
          <a:prstGeom prst="ellipse">
            <a:avLst/>
          </a:prstGeom>
          <a:solidFill>
            <a:srgbClr val="C97F12"/>
          </a:solidFill>
          <a:ln/>
        </p:spPr>
      </p:sp>
      <p:sp>
        <p:nvSpPr>
          <p:cNvPr id="23" name="Text 19"/>
          <p:cNvSpPr txBox="1"/>
          <p:nvPr/>
        </p:nvSpPr>
        <p:spPr>
          <a:xfrm>
            <a:off x="4828032" y="494690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Ward drainage &amp; terrain records</a:t>
            </a:r>
            <a:endParaRPr lang="en-US" sz="1150" dirty="0"/>
          </a:p>
        </p:txBody>
      </p:sp>
      <p:sp>
        <p:nvSpPr>
          <p:cNvPr id="24" name="Shape 20"/>
          <p:cNvSpPr/>
          <p:nvPr/>
        </p:nvSpPr>
        <p:spPr>
          <a:xfrm>
            <a:off x="4599432" y="5532120"/>
            <a:ext cx="109728" cy="109728"/>
          </a:xfrm>
          <a:prstGeom prst="ellipse">
            <a:avLst/>
          </a:prstGeom>
          <a:solidFill>
            <a:srgbClr val="C97F12"/>
          </a:solidFill>
          <a:ln/>
        </p:spPr>
      </p:sp>
      <p:sp>
        <p:nvSpPr>
          <p:cNvPr id="25" name="Text 21"/>
          <p:cNvSpPr txBox="1"/>
          <p:nvPr/>
        </p:nvSpPr>
        <p:spPr>
          <a:xfrm>
            <a:off x="4828032" y="544982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Historic civic-complaint logs</a:t>
            </a:r>
            <a:endParaRPr lang="en-US" sz="1150" dirty="0"/>
          </a:p>
        </p:txBody>
      </p:sp>
      <p:sp>
        <p:nvSpPr>
          <p:cNvPr id="26" name="Shape 22"/>
          <p:cNvSpPr/>
          <p:nvPr/>
        </p:nvSpPr>
        <p:spPr>
          <a:xfrm>
            <a:off x="8101584" y="3429000"/>
            <a:ext cx="3538728" cy="2606040"/>
          </a:xfrm>
          <a:prstGeom prst="roundRect">
            <a:avLst>
              <a:gd name="adj" fmla="val 2807"/>
            </a:avLst>
          </a:prstGeom>
          <a:solidFill>
            <a:srgbClr val="F5F9FA"/>
          </a:solidFill>
          <a:ln/>
        </p:spPr>
      </p:sp>
      <p:sp>
        <p:nvSpPr>
          <p:cNvPr id="27" name="Shape 23"/>
          <p:cNvSpPr/>
          <p:nvPr/>
        </p:nvSpPr>
        <p:spPr>
          <a:xfrm>
            <a:off x="8375904" y="3657600"/>
            <a:ext cx="594360" cy="594360"/>
          </a:xfrm>
          <a:prstGeom prst="ellipse">
            <a:avLst/>
          </a:prstGeom>
          <a:solidFill>
            <a:srgbClr val="1C7293"/>
          </a:solidFill>
          <a:ln/>
        </p:spPr>
      </p:sp>
      <p:pic>
        <p:nvPicPr>
          <p:cNvPr id="28" name="Image 2" descr="icons/chart.png">    </p:cNvPr>
          <p:cNvPicPr>
            <a:picLocks noChangeAspect="1"/>
          </p:cNvPicPr>
          <p:nvPr/>
        </p:nvPicPr>
        <p:blipFill>
          <a:blip r:embed="rId3"/>
          <a:stretch>
            <a:fillRect/>
          </a:stretch>
        </p:blipFill>
        <p:spPr>
          <a:xfrm>
            <a:off x="8509635" y="3791331"/>
            <a:ext cx="326898" cy="326898"/>
          </a:xfrm>
          <a:prstGeom prst="rect">
            <a:avLst/>
          </a:prstGeom>
        </p:spPr>
      </p:pic>
      <p:sp>
        <p:nvSpPr>
          <p:cNvPr id="29" name="Text 24"/>
          <p:cNvSpPr txBox="1"/>
          <p:nvPr/>
        </p:nvSpPr>
        <p:spPr>
          <a:xfrm>
            <a:off x="9107424" y="3730752"/>
            <a:ext cx="2377440" cy="457200"/>
          </a:xfrm>
          <a:prstGeom prst="rect">
            <a:avLst/>
          </a:prstGeom>
          <a:noFill/>
          <a:ln/>
        </p:spPr>
        <p:txBody>
          <a:bodyPr wrap="square" lIns="0" tIns="0" rIns="0" bIns="0"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Where AI Helps</a:t>
            </a:r>
            <a:endParaRPr lang="en-US" sz="1450" dirty="0"/>
          </a:p>
        </p:txBody>
      </p:sp>
      <p:sp>
        <p:nvSpPr>
          <p:cNvPr id="30" name="Shape 25"/>
          <p:cNvSpPr/>
          <p:nvPr/>
        </p:nvSpPr>
        <p:spPr>
          <a:xfrm>
            <a:off x="8375904" y="4526280"/>
            <a:ext cx="109728" cy="109728"/>
          </a:xfrm>
          <a:prstGeom prst="ellipse">
            <a:avLst/>
          </a:prstGeom>
          <a:solidFill>
            <a:srgbClr val="C97F12"/>
          </a:solidFill>
          <a:ln/>
        </p:spPr>
      </p:sp>
      <p:sp>
        <p:nvSpPr>
          <p:cNvPr id="31" name="Text 26"/>
          <p:cNvSpPr txBox="1"/>
          <p:nvPr/>
        </p:nvSpPr>
        <p:spPr>
          <a:xfrm>
            <a:off x="8604504" y="444398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Predicting ward-level flood risk</a:t>
            </a:r>
            <a:endParaRPr lang="en-US" sz="1150" dirty="0"/>
          </a:p>
        </p:txBody>
      </p:sp>
      <p:sp>
        <p:nvSpPr>
          <p:cNvPr id="32" name="Shape 27"/>
          <p:cNvSpPr/>
          <p:nvPr/>
        </p:nvSpPr>
        <p:spPr>
          <a:xfrm>
            <a:off x="8375904" y="5029200"/>
            <a:ext cx="109728" cy="109728"/>
          </a:xfrm>
          <a:prstGeom prst="ellipse">
            <a:avLst/>
          </a:prstGeom>
          <a:solidFill>
            <a:srgbClr val="C97F12"/>
          </a:solidFill>
          <a:ln/>
        </p:spPr>
      </p:sp>
      <p:sp>
        <p:nvSpPr>
          <p:cNvPr id="33" name="Text 28"/>
          <p:cNvSpPr txBox="1"/>
          <p:nvPr/>
        </p:nvSpPr>
        <p:spPr>
          <a:xfrm>
            <a:off x="8604504" y="494690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Classifying &amp; routing complaints</a:t>
            </a:r>
            <a:endParaRPr lang="en-US" sz="1150" dirty="0"/>
          </a:p>
        </p:txBody>
      </p:sp>
      <p:sp>
        <p:nvSpPr>
          <p:cNvPr id="34" name="Shape 29"/>
          <p:cNvSpPr/>
          <p:nvPr/>
        </p:nvSpPr>
        <p:spPr>
          <a:xfrm>
            <a:off x="8375904" y="5532120"/>
            <a:ext cx="109728" cy="109728"/>
          </a:xfrm>
          <a:prstGeom prst="ellipse">
            <a:avLst/>
          </a:prstGeom>
          <a:solidFill>
            <a:srgbClr val="C97F12"/>
          </a:solidFill>
          <a:ln/>
        </p:spPr>
      </p:sp>
      <p:sp>
        <p:nvSpPr>
          <p:cNvPr id="35" name="Text 30"/>
          <p:cNvSpPr txBox="1"/>
          <p:nvPr/>
        </p:nvSpPr>
        <p:spPr>
          <a:xfrm>
            <a:off x="8604504" y="5449824"/>
            <a:ext cx="2834640" cy="457200"/>
          </a:xfrm>
          <a:prstGeom prst="rect">
            <a:avLst/>
          </a:prstGeom>
          <a:noFill/>
          <a:ln/>
        </p:spPr>
        <p:txBody>
          <a:bodyPr wrap="square" lIns="0" tIns="0" rIns="0" bIns="0" rtlCol="0" anchor="ctr"/>
          <a:lstStyle/>
          <a:p>
            <a:pPr indent="0" marL="0">
              <a:buNone/>
            </a:pPr>
            <a:r>
              <a:rPr lang="en-US" sz="1150" dirty="0">
                <a:solidFill>
                  <a:srgbClr val="1B2A38"/>
                </a:solidFill>
                <a:latin typeface="Calibri" pitchFamily="34" charset="0"/>
                <a:ea typeface="Calibri" pitchFamily="34" charset="-122"/>
                <a:cs typeface="Calibri" pitchFamily="34" charset="-120"/>
              </a:rPr>
              <a:t>Answering citizens via chat</a:t>
            </a:r>
            <a:endParaRPr lang="en-US" sz="1150" dirty="0"/>
          </a:p>
        </p:txBody>
      </p:sp>
      <p:sp>
        <p:nvSpPr>
          <p:cNvPr id="36" name="Text 31"/>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7" name="Text 32"/>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DESIGN THINKING · STAGE 1–2</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Empathize &amp; Define</a:t>
            </a:r>
            <a:endParaRPr lang="en-US" sz="3000" dirty="0"/>
          </a:p>
        </p:txBody>
      </p:sp>
      <p:sp>
        <p:nvSpPr>
          <p:cNvPr id="4" name="Shape 2"/>
          <p:cNvSpPr/>
          <p:nvPr/>
        </p:nvSpPr>
        <p:spPr>
          <a:xfrm>
            <a:off x="548640" y="1463040"/>
            <a:ext cx="5349240" cy="4572000"/>
          </a:xfrm>
          <a:prstGeom prst="roundRect">
            <a:avLst>
              <a:gd name="adj" fmla="val 1600"/>
            </a:avLst>
          </a:prstGeom>
          <a:solidFill>
            <a:srgbClr val="F5F9FA"/>
          </a:solidFill>
          <a:ln/>
        </p:spPr>
      </p:sp>
      <p:sp>
        <p:nvSpPr>
          <p:cNvPr id="5" name="Shape 3"/>
          <p:cNvSpPr/>
          <p:nvPr/>
        </p:nvSpPr>
        <p:spPr>
          <a:xfrm>
            <a:off x="822960" y="1691640"/>
            <a:ext cx="548640" cy="548640"/>
          </a:xfrm>
          <a:prstGeom prst="ellipse">
            <a:avLst/>
          </a:prstGeom>
          <a:solidFill>
            <a:srgbClr val="0B3D62"/>
          </a:solidFill>
          <a:ln/>
        </p:spPr>
      </p:sp>
      <p:pic>
        <p:nvPicPr>
          <p:cNvPr id="6" name="Image 0" descr="icons/search.png">    </p:cNvPr>
          <p:cNvPicPr>
            <a:picLocks noChangeAspect="1"/>
          </p:cNvPicPr>
          <p:nvPr/>
        </p:nvPicPr>
        <p:blipFill>
          <a:blip r:embed="rId1"/>
          <a:stretch>
            <a:fillRect/>
          </a:stretch>
        </p:blipFill>
        <p:spPr>
          <a:xfrm>
            <a:off x="946404" y="1815084"/>
            <a:ext cx="301752" cy="301752"/>
          </a:xfrm>
          <a:prstGeom prst="rect">
            <a:avLst/>
          </a:prstGeom>
        </p:spPr>
      </p:pic>
      <p:sp>
        <p:nvSpPr>
          <p:cNvPr id="7" name="Text 4"/>
          <p:cNvSpPr txBox="1"/>
          <p:nvPr/>
        </p:nvSpPr>
        <p:spPr>
          <a:xfrm>
            <a:off x="1508760" y="1737360"/>
            <a:ext cx="3657600" cy="457200"/>
          </a:xfrm>
          <a:prstGeom prst="rect">
            <a:avLst/>
          </a:prstGeom>
          <a:noFill/>
          <a:ln/>
        </p:spPr>
        <p:txBody>
          <a:bodyPr wrap="square" lIns="0" tIns="0" rIns="0" bIns="0" rtlCol="0" anchor="ctr"/>
          <a:lstStyle/>
          <a:p>
            <a:pPr indent="0" marL="0">
              <a:buNone/>
            </a:pPr>
            <a:r>
              <a:rPr lang="en-US" sz="1700" b="1" dirty="0">
                <a:solidFill>
                  <a:srgbClr val="0B3D62"/>
                </a:solidFill>
                <a:latin typeface="Cambria" pitchFamily="34" charset="0"/>
                <a:ea typeface="Cambria" pitchFamily="34" charset="-122"/>
                <a:cs typeface="Cambria" pitchFamily="34" charset="-120"/>
              </a:rPr>
              <a:t>Empathize</a:t>
            </a:r>
            <a:endParaRPr lang="en-US" sz="1700" dirty="0"/>
          </a:p>
        </p:txBody>
      </p:sp>
      <p:sp>
        <p:nvSpPr>
          <p:cNvPr id="8" name="Text 5"/>
          <p:cNvSpPr txBox="1"/>
          <p:nvPr/>
        </p:nvSpPr>
        <p:spPr>
          <a:xfrm>
            <a:off x="822960" y="2423160"/>
            <a:ext cx="48463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Who faces this?</a:t>
            </a:r>
            <a:endParaRPr lang="en-US" sz="1300" dirty="0"/>
          </a:p>
        </p:txBody>
      </p:sp>
      <p:sp>
        <p:nvSpPr>
          <p:cNvPr id="9" name="Text 6"/>
          <p:cNvSpPr txBox="1"/>
          <p:nvPr/>
        </p:nvSpPr>
        <p:spPr>
          <a:xfrm>
            <a:off x="822960" y="274320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Residents near low-lying drains; ward officers with no early signal of where flooding will hit next.</a:t>
            </a:r>
            <a:endParaRPr lang="en-US" sz="1200" dirty="0"/>
          </a:p>
        </p:txBody>
      </p:sp>
      <p:sp>
        <p:nvSpPr>
          <p:cNvPr id="10" name="Text 7"/>
          <p:cNvSpPr txBox="1"/>
          <p:nvPr/>
        </p:nvSpPr>
        <p:spPr>
          <a:xfrm>
            <a:off x="822960" y="3474720"/>
            <a:ext cx="48463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What do they experience?</a:t>
            </a:r>
            <a:endParaRPr lang="en-US" sz="1300" dirty="0"/>
          </a:p>
        </p:txBody>
      </p:sp>
      <p:sp>
        <p:nvSpPr>
          <p:cNvPr id="11" name="Text 8"/>
          <p:cNvSpPr txBox="1"/>
          <p:nvPr/>
        </p:nvSpPr>
        <p:spPr>
          <a:xfrm>
            <a:off x="822960" y="379476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Flooded homes/shops, blocked roads, complaints filed by phone or paper with no visibility into status.</a:t>
            </a:r>
            <a:endParaRPr lang="en-US" sz="1200" dirty="0"/>
          </a:p>
        </p:txBody>
      </p:sp>
      <p:sp>
        <p:nvSpPr>
          <p:cNvPr id="12" name="Text 9"/>
          <p:cNvSpPr txBox="1"/>
          <p:nvPr/>
        </p:nvSpPr>
        <p:spPr>
          <a:xfrm>
            <a:off x="822960" y="4526280"/>
            <a:ext cx="4846320" cy="320040"/>
          </a:xfrm>
          <a:prstGeom prst="rect">
            <a:avLst/>
          </a:prstGeom>
          <a:noFill/>
          <a:ln/>
        </p:spPr>
        <p:txBody>
          <a:bodyPr wrap="square" lIns="0" tIns="0" rIns="0" bIns="0" rtlCol="0" anchor="ctr"/>
          <a:lstStyle/>
          <a:p>
            <a:pPr indent="0" marL="0">
              <a:buNone/>
            </a:pPr>
            <a:r>
              <a:rPr lang="en-US" sz="1300" b="1" dirty="0">
                <a:solidFill>
                  <a:srgbClr val="1C7293"/>
                </a:solidFill>
                <a:latin typeface="Calibri" pitchFamily="34" charset="0"/>
                <a:ea typeface="Calibri" pitchFamily="34" charset="-122"/>
                <a:cs typeface="Calibri" pitchFamily="34" charset="-120"/>
              </a:rPr>
              <a:t>Why does it persist?</a:t>
            </a:r>
            <a:endParaRPr lang="en-US" sz="1300" dirty="0"/>
          </a:p>
        </p:txBody>
      </p:sp>
      <p:sp>
        <p:nvSpPr>
          <p:cNvPr id="13" name="Text 10"/>
          <p:cNvSpPr txBox="1"/>
          <p:nvPr/>
        </p:nvSpPr>
        <p:spPr>
          <a:xfrm>
            <a:off x="822960" y="484632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No predictive layer over rainfall/terrain data, and complaint routing depends on manual reading and judgment.</a:t>
            </a:r>
            <a:endParaRPr lang="en-US" sz="1200" dirty="0"/>
          </a:p>
        </p:txBody>
      </p:sp>
      <p:sp>
        <p:nvSpPr>
          <p:cNvPr id="14" name="Shape 11"/>
          <p:cNvSpPr/>
          <p:nvPr/>
        </p:nvSpPr>
        <p:spPr>
          <a:xfrm>
            <a:off x="6263640" y="1463040"/>
            <a:ext cx="5349240" cy="4572000"/>
          </a:xfrm>
          <a:prstGeom prst="roundRect">
            <a:avLst>
              <a:gd name="adj" fmla="val 1600"/>
            </a:avLst>
          </a:prstGeom>
          <a:solidFill>
            <a:srgbClr val="FDF3E4"/>
          </a:solidFill>
          <a:ln/>
        </p:spPr>
      </p:sp>
      <p:sp>
        <p:nvSpPr>
          <p:cNvPr id="15" name="Shape 12"/>
          <p:cNvSpPr/>
          <p:nvPr/>
        </p:nvSpPr>
        <p:spPr>
          <a:xfrm>
            <a:off x="6537960" y="1691640"/>
            <a:ext cx="548640" cy="548640"/>
          </a:xfrm>
          <a:prstGeom prst="ellipse">
            <a:avLst/>
          </a:prstGeom>
          <a:solidFill>
            <a:srgbClr val="C97F12"/>
          </a:solidFill>
          <a:ln/>
        </p:spPr>
      </p:sp>
      <p:pic>
        <p:nvPicPr>
          <p:cNvPr id="16" name="Image 1" descr="icons/bullseye.png">    </p:cNvPr>
          <p:cNvPicPr>
            <a:picLocks noChangeAspect="1"/>
          </p:cNvPicPr>
          <p:nvPr/>
        </p:nvPicPr>
        <p:blipFill>
          <a:blip r:embed="rId2"/>
          <a:stretch>
            <a:fillRect/>
          </a:stretch>
        </p:blipFill>
        <p:spPr>
          <a:xfrm>
            <a:off x="6661404" y="1815084"/>
            <a:ext cx="301752" cy="301752"/>
          </a:xfrm>
          <a:prstGeom prst="rect">
            <a:avLst/>
          </a:prstGeom>
        </p:spPr>
      </p:pic>
      <p:sp>
        <p:nvSpPr>
          <p:cNvPr id="17" name="Text 13"/>
          <p:cNvSpPr txBox="1"/>
          <p:nvPr/>
        </p:nvSpPr>
        <p:spPr>
          <a:xfrm>
            <a:off x="7223760" y="1737360"/>
            <a:ext cx="3657600" cy="457200"/>
          </a:xfrm>
          <a:prstGeom prst="rect">
            <a:avLst/>
          </a:prstGeom>
          <a:noFill/>
          <a:ln/>
        </p:spPr>
        <p:txBody>
          <a:bodyPr wrap="square" lIns="0" tIns="0" rIns="0" bIns="0" rtlCol="0" anchor="ctr"/>
          <a:lstStyle/>
          <a:p>
            <a:pPr indent="0" marL="0">
              <a:buNone/>
            </a:pPr>
            <a:r>
              <a:rPr lang="en-US" sz="1700" b="1" dirty="0">
                <a:solidFill>
                  <a:srgbClr val="0B3D62"/>
                </a:solidFill>
                <a:latin typeface="Cambria" pitchFamily="34" charset="0"/>
                <a:ea typeface="Cambria" pitchFamily="34" charset="-122"/>
                <a:cs typeface="Cambria" pitchFamily="34" charset="-120"/>
              </a:rPr>
              <a:t>Define</a:t>
            </a:r>
            <a:endParaRPr lang="en-US" sz="1700" dirty="0"/>
          </a:p>
        </p:txBody>
      </p:sp>
      <p:sp>
        <p:nvSpPr>
          <p:cNvPr id="18" name="Text 14"/>
          <p:cNvSpPr txBox="1"/>
          <p:nvPr/>
        </p:nvSpPr>
        <p:spPr>
          <a:xfrm>
            <a:off x="6537960" y="2423160"/>
            <a:ext cx="4846320" cy="320040"/>
          </a:xfrm>
          <a:prstGeom prst="rect">
            <a:avLst/>
          </a:prstGeom>
          <a:noFill/>
          <a:ln/>
        </p:spPr>
        <p:txBody>
          <a:bodyPr wrap="square" lIns="0" tIns="0" rIns="0" bIns="0" rtlCol="0" anchor="ctr"/>
          <a:lstStyle/>
          <a:p>
            <a:pPr indent="0" marL="0">
              <a:buNone/>
            </a:pPr>
            <a:r>
              <a:rPr lang="en-US" sz="1300" b="1" dirty="0">
                <a:solidFill>
                  <a:srgbClr val="C97F12"/>
                </a:solidFill>
                <a:latin typeface="Calibri" pitchFamily="34" charset="0"/>
                <a:ea typeface="Calibri" pitchFamily="34" charset="-122"/>
                <a:cs typeface="Calibri" pitchFamily="34" charset="-120"/>
              </a:rPr>
              <a:t>Problem statement</a:t>
            </a:r>
            <a:endParaRPr lang="en-US" sz="1300" dirty="0"/>
          </a:p>
        </p:txBody>
      </p:sp>
      <p:sp>
        <p:nvSpPr>
          <p:cNvPr id="19" name="Text 15"/>
          <p:cNvSpPr txBox="1"/>
          <p:nvPr/>
        </p:nvSpPr>
        <p:spPr>
          <a:xfrm>
            <a:off x="6537960" y="274320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Flood risk and civic complaints are handled reactively, without predictive insight or consistent triage.</a:t>
            </a:r>
            <a:endParaRPr lang="en-US" sz="1200" dirty="0"/>
          </a:p>
        </p:txBody>
      </p:sp>
      <p:sp>
        <p:nvSpPr>
          <p:cNvPr id="20" name="Text 16"/>
          <p:cNvSpPr txBox="1"/>
          <p:nvPr/>
        </p:nvSpPr>
        <p:spPr>
          <a:xfrm>
            <a:off x="6537960" y="3474720"/>
            <a:ext cx="4846320" cy="320040"/>
          </a:xfrm>
          <a:prstGeom prst="rect">
            <a:avLst/>
          </a:prstGeom>
          <a:noFill/>
          <a:ln/>
        </p:spPr>
        <p:txBody>
          <a:bodyPr wrap="square" lIns="0" tIns="0" rIns="0" bIns="0" rtlCol="0" anchor="ctr"/>
          <a:lstStyle/>
          <a:p>
            <a:pPr indent="0" marL="0">
              <a:buNone/>
            </a:pPr>
            <a:r>
              <a:rPr lang="en-US" sz="1300" b="1" dirty="0">
                <a:solidFill>
                  <a:srgbClr val="C97F12"/>
                </a:solidFill>
                <a:latin typeface="Calibri" pitchFamily="34" charset="0"/>
                <a:ea typeface="Calibri" pitchFamily="34" charset="-122"/>
                <a:cs typeface="Calibri" pitchFamily="34" charset="-120"/>
              </a:rPr>
              <a:t>Target users</a:t>
            </a:r>
            <a:endParaRPr lang="en-US" sz="1300" dirty="0"/>
          </a:p>
        </p:txBody>
      </p:sp>
      <p:sp>
        <p:nvSpPr>
          <p:cNvPr id="21" name="Text 17"/>
          <p:cNvSpPr txBox="1"/>
          <p:nvPr/>
        </p:nvSpPr>
        <p:spPr>
          <a:xfrm>
            <a:off x="6537960" y="379476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Residents, municipal drainage &amp; disaster-management staff, ward-level repair crews.</a:t>
            </a:r>
            <a:endParaRPr lang="en-US" sz="1200" dirty="0"/>
          </a:p>
        </p:txBody>
      </p:sp>
      <p:sp>
        <p:nvSpPr>
          <p:cNvPr id="22" name="Text 18"/>
          <p:cNvSpPr txBox="1"/>
          <p:nvPr/>
        </p:nvSpPr>
        <p:spPr>
          <a:xfrm>
            <a:off x="6537960" y="4526280"/>
            <a:ext cx="4846320" cy="320040"/>
          </a:xfrm>
          <a:prstGeom prst="rect">
            <a:avLst/>
          </a:prstGeom>
          <a:noFill/>
          <a:ln/>
        </p:spPr>
        <p:txBody>
          <a:bodyPr wrap="square" lIns="0" tIns="0" rIns="0" bIns="0" rtlCol="0" anchor="ctr"/>
          <a:lstStyle/>
          <a:p>
            <a:pPr indent="0" marL="0">
              <a:buNone/>
            </a:pPr>
            <a:r>
              <a:rPr lang="en-US" sz="1300" b="1" dirty="0">
                <a:solidFill>
                  <a:srgbClr val="C97F12"/>
                </a:solidFill>
                <a:latin typeface="Calibri" pitchFamily="34" charset="0"/>
                <a:ea typeface="Calibri" pitchFamily="34" charset="-122"/>
                <a:cs typeface="Calibri" pitchFamily="34" charset="-120"/>
              </a:rPr>
              <a:t>Current gaps</a:t>
            </a:r>
            <a:endParaRPr lang="en-US" sz="1300" dirty="0"/>
          </a:p>
        </p:txBody>
      </p:sp>
      <p:sp>
        <p:nvSpPr>
          <p:cNvPr id="23" name="Text 19"/>
          <p:cNvSpPr txBox="1"/>
          <p:nvPr/>
        </p:nvSpPr>
        <p:spPr>
          <a:xfrm>
            <a:off x="6537960" y="4846320"/>
            <a:ext cx="4846320" cy="685800"/>
          </a:xfrm>
          <a:prstGeom prst="rect">
            <a:avLst/>
          </a:prstGeom>
          <a:noFill/>
          <a:ln/>
        </p:spPr>
        <p:txBody>
          <a:bodyPr wrap="square" lIns="0" tIns="0" rIns="0" bIns="0" rtlCol="0" anchor="ctr"/>
          <a:lstStyle/>
          <a:p>
            <a:pPr indent="0" marL="0">
              <a:lnSpc>
                <a:spcPts val="1600"/>
              </a:lnSpc>
              <a:buNone/>
            </a:pPr>
            <a:r>
              <a:rPr lang="en-US" sz="1200" dirty="0">
                <a:solidFill>
                  <a:srgbClr val="1B2A38"/>
                </a:solidFill>
                <a:latin typeface="Calibri" pitchFamily="34" charset="0"/>
                <a:ea typeface="Calibri" pitchFamily="34" charset="-122"/>
                <a:cs typeface="Calibri" pitchFamily="34" charset="-120"/>
              </a:rPr>
              <a:t>No early-warning signal; manual, inconsistent complaint classification; slow crew dispatch.</a:t>
            </a:r>
            <a:endParaRPr lang="en-US" sz="1200" dirty="0"/>
          </a:p>
        </p:txBody>
      </p:sp>
      <p:sp>
        <p:nvSpPr>
          <p:cNvPr id="24" name="Text 20"/>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5" name="Text 21"/>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AI SOLUTION OVERVIEW</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Two Modules, One Connected Workflow</a:t>
            </a:r>
            <a:endParaRPr lang="en-US" sz="3000" dirty="0"/>
          </a:p>
        </p:txBody>
      </p:sp>
      <p:sp>
        <p:nvSpPr>
          <p:cNvPr id="4" name="Shape 2"/>
          <p:cNvSpPr/>
          <p:nvPr/>
        </p:nvSpPr>
        <p:spPr>
          <a:xfrm>
            <a:off x="548640" y="1554480"/>
            <a:ext cx="5349240" cy="4434840"/>
          </a:xfrm>
          <a:prstGeom prst="roundRect">
            <a:avLst>
              <a:gd name="adj" fmla="val 2062"/>
            </a:avLst>
          </a:prstGeom>
          <a:solidFill>
            <a:srgbClr val="0B3D62"/>
          </a:solidFill>
          <a:ln/>
        </p:spPr>
      </p:sp>
      <p:sp>
        <p:nvSpPr>
          <p:cNvPr id="5" name="Shape 3"/>
          <p:cNvSpPr/>
          <p:nvPr/>
        </p:nvSpPr>
        <p:spPr>
          <a:xfrm>
            <a:off x="914400" y="1874520"/>
            <a:ext cx="822960" cy="822960"/>
          </a:xfrm>
          <a:prstGeom prst="ellipse">
            <a:avLst/>
          </a:prstGeom>
          <a:solidFill>
            <a:srgbClr val="1C7293"/>
          </a:solidFill>
          <a:ln/>
        </p:spPr>
      </p:sp>
      <p:pic>
        <p:nvPicPr>
          <p:cNvPr id="6" name="Image 0" descr="icons/chart.png">    </p:cNvPr>
          <p:cNvPicPr>
            <a:picLocks noChangeAspect="1"/>
          </p:cNvPicPr>
          <p:nvPr/>
        </p:nvPicPr>
        <p:blipFill>
          <a:blip r:embed="rId1"/>
          <a:stretch>
            <a:fillRect/>
          </a:stretch>
        </p:blipFill>
        <p:spPr>
          <a:xfrm>
            <a:off x="1099566" y="2059686"/>
            <a:ext cx="452628" cy="452628"/>
          </a:xfrm>
          <a:prstGeom prst="rect">
            <a:avLst/>
          </a:prstGeom>
        </p:spPr>
      </p:pic>
      <p:sp>
        <p:nvSpPr>
          <p:cNvPr id="7" name="Text 4"/>
          <p:cNvSpPr txBox="1"/>
          <p:nvPr/>
        </p:nvSpPr>
        <p:spPr>
          <a:xfrm>
            <a:off x="1920240" y="1874520"/>
            <a:ext cx="3794760" cy="82296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Module 1</a:t>
            </a:r>
            <a:endParaRPr lang="en-US" sz="1600" dirty="0"/>
          </a:p>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Flood Risk Prediction Engine</a:t>
            </a:r>
            <a:endParaRPr lang="en-US" sz="1600" dirty="0"/>
          </a:p>
        </p:txBody>
      </p:sp>
      <p:sp>
        <p:nvSpPr>
          <p:cNvPr id="8" name="Text 5"/>
          <p:cNvSpPr txBox="1"/>
          <p:nvPr/>
        </p:nvSpPr>
        <p:spPr>
          <a:xfrm>
            <a:off x="914400" y="2834640"/>
            <a:ext cx="4709160" cy="1371600"/>
          </a:xfrm>
          <a:prstGeom prst="rect">
            <a:avLst/>
          </a:prstGeom>
          <a:noFill/>
          <a:ln/>
        </p:spPr>
        <p:txBody>
          <a:bodyPr wrap="square" lIns="0" tIns="0" rIns="0" bIns="0" rtlCol="0" anchor="ctr"/>
          <a:lstStyle/>
          <a:p>
            <a:pPr indent="0" marL="0">
              <a:lnSpc>
                <a:spcPts val="1900"/>
              </a:lnSpc>
              <a:buNone/>
            </a:pPr>
            <a:r>
              <a:rPr lang="en-US" sz="1250" dirty="0">
                <a:solidFill>
                  <a:srgbClr val="D7E6F0"/>
                </a:solidFill>
                <a:latin typeface="Calibri" pitchFamily="34" charset="0"/>
                <a:ea typeface="Calibri" pitchFamily="34" charset="-122"/>
                <a:cs typeface="Calibri" pitchFamily="34" charset="-120"/>
              </a:rPr>
              <a:t>Reads rainfall forecasts, drainage capacity records and terrain/elevation data for each ward, and produces a daily flood-risk score. High-risk wards trigger an early alert to residents and officials, before waterlogging becomes severe.</a:t>
            </a:r>
            <a:endParaRPr lang="en-US" sz="1250" dirty="0"/>
          </a:p>
        </p:txBody>
      </p:sp>
      <p:sp>
        <p:nvSpPr>
          <p:cNvPr id="9" name="Shape 6"/>
          <p:cNvSpPr/>
          <p:nvPr/>
        </p:nvSpPr>
        <p:spPr>
          <a:xfrm>
            <a:off x="914400" y="4251960"/>
            <a:ext cx="4709160" cy="0"/>
          </a:xfrm>
          <a:prstGeom prst="line">
            <a:avLst/>
          </a:prstGeom>
          <a:noFill/>
          <a:ln w="12700">
            <a:solidFill>
              <a:srgbClr val="27547A"/>
            </a:solidFill>
            <a:prstDash val="solid"/>
          </a:ln>
        </p:spPr>
      </p:sp>
      <p:sp>
        <p:nvSpPr>
          <p:cNvPr id="10" name="Text 7"/>
          <p:cNvSpPr txBox="1"/>
          <p:nvPr/>
        </p:nvSpPr>
        <p:spPr>
          <a:xfrm>
            <a:off x="914400" y="4389120"/>
            <a:ext cx="4709160" cy="320040"/>
          </a:xfrm>
          <a:prstGeom prst="rect">
            <a:avLst/>
          </a:prstGeom>
          <a:noFill/>
          <a:ln/>
        </p:spPr>
        <p:txBody>
          <a:bodyPr wrap="square" lIns="0" tIns="0" rIns="0" bIns="0" rtlCol="0" anchor="ctr"/>
          <a:lstStyle/>
          <a:p>
            <a:pPr indent="0" marL="0">
              <a:buNone/>
            </a:pPr>
            <a:r>
              <a:rPr lang="en-US" sz="1150" i="1" dirty="0">
                <a:solidFill>
                  <a:srgbClr val="F2A93B"/>
                </a:solidFill>
                <a:latin typeface="Calibri" pitchFamily="34" charset="0"/>
                <a:ea typeface="Calibri" pitchFamily="34" charset="-122"/>
                <a:cs typeface="Calibri" pitchFamily="34" charset="-120"/>
              </a:rPr>
              <a:t>AI technique: classification / predictive scoring</a:t>
            </a:r>
            <a:endParaRPr lang="en-US" sz="1150" dirty="0"/>
          </a:p>
        </p:txBody>
      </p:sp>
      <p:sp>
        <p:nvSpPr>
          <p:cNvPr id="11" name="Text 8"/>
          <p:cNvSpPr txBox="1"/>
          <p:nvPr/>
        </p:nvSpPr>
        <p:spPr>
          <a:xfrm>
            <a:off x="914400" y="4709160"/>
            <a:ext cx="4709160" cy="320040"/>
          </a:xfrm>
          <a:prstGeom prst="rect">
            <a:avLst/>
          </a:prstGeom>
          <a:noFill/>
          <a:ln/>
        </p:spPr>
        <p:txBody>
          <a:bodyPr wrap="square" lIns="0" tIns="0" rIns="0" bIns="0" rtlCol="0" anchor="ctr"/>
          <a:lstStyle/>
          <a:p>
            <a:pPr indent="0" marL="0">
              <a:buNone/>
            </a:pPr>
            <a:r>
              <a:rPr lang="en-US" sz="1150" i="1" dirty="0">
                <a:solidFill>
                  <a:srgbClr val="F2A93B"/>
                </a:solidFill>
                <a:latin typeface="Calibri" pitchFamily="34" charset="0"/>
                <a:ea typeface="Calibri" pitchFamily="34" charset="-122"/>
                <a:cs typeface="Calibri" pitchFamily="34" charset="-120"/>
              </a:rPr>
              <a:t>Output: ward, risk level, confidence, recommended action</a:t>
            </a:r>
            <a:endParaRPr lang="en-US" sz="1150" dirty="0"/>
          </a:p>
        </p:txBody>
      </p:sp>
      <p:sp>
        <p:nvSpPr>
          <p:cNvPr id="12" name="Shape 9"/>
          <p:cNvSpPr/>
          <p:nvPr/>
        </p:nvSpPr>
        <p:spPr>
          <a:xfrm>
            <a:off x="6263640" y="1554480"/>
            <a:ext cx="5349240" cy="4434840"/>
          </a:xfrm>
          <a:prstGeom prst="roundRect">
            <a:avLst>
              <a:gd name="adj" fmla="val 2062"/>
            </a:avLst>
          </a:prstGeom>
          <a:solidFill>
            <a:srgbClr val="1C7293"/>
          </a:solidFill>
          <a:ln/>
        </p:spPr>
      </p:sp>
      <p:sp>
        <p:nvSpPr>
          <p:cNvPr id="13" name="Shape 10"/>
          <p:cNvSpPr/>
          <p:nvPr/>
        </p:nvSpPr>
        <p:spPr>
          <a:xfrm>
            <a:off x="6629400" y="1874520"/>
            <a:ext cx="822960" cy="822960"/>
          </a:xfrm>
          <a:prstGeom prst="ellipse">
            <a:avLst/>
          </a:prstGeom>
          <a:solidFill>
            <a:srgbClr val="0B3D62"/>
          </a:solidFill>
          <a:ln/>
        </p:spPr>
      </p:sp>
      <p:pic>
        <p:nvPicPr>
          <p:cNvPr id="14" name="Image 1" descr="icons/comments.png">    </p:cNvPr>
          <p:cNvPicPr>
            <a:picLocks noChangeAspect="1"/>
          </p:cNvPicPr>
          <p:nvPr/>
        </p:nvPicPr>
        <p:blipFill>
          <a:blip r:embed="rId2"/>
          <a:stretch>
            <a:fillRect/>
          </a:stretch>
        </p:blipFill>
        <p:spPr>
          <a:xfrm>
            <a:off x="6814566" y="2059686"/>
            <a:ext cx="452628" cy="452628"/>
          </a:xfrm>
          <a:prstGeom prst="rect">
            <a:avLst/>
          </a:prstGeom>
        </p:spPr>
      </p:pic>
      <p:sp>
        <p:nvSpPr>
          <p:cNvPr id="15" name="Text 11"/>
          <p:cNvSpPr txBox="1"/>
          <p:nvPr/>
        </p:nvSpPr>
        <p:spPr>
          <a:xfrm>
            <a:off x="7635240" y="1874520"/>
            <a:ext cx="3794760" cy="82296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Module 2</a:t>
            </a:r>
            <a:endParaRPr lang="en-US" sz="1600" dirty="0"/>
          </a:p>
          <a:p>
            <a:pPr indent="0" marL="0">
              <a:lnSpc>
                <a:spcPts val="2000"/>
              </a:lnSpc>
              <a:buNone/>
            </a:pPr>
            <a:r>
              <a:rPr lang="en-US" sz="1600" b="1" dirty="0">
                <a:solidFill>
                  <a:srgbClr val="FFFFFF"/>
                </a:solidFill>
                <a:latin typeface="Cambria" pitchFamily="34" charset="0"/>
                <a:ea typeface="Cambria" pitchFamily="34" charset="-122"/>
                <a:cs typeface="Cambria" pitchFamily="34" charset="-120"/>
              </a:rPr>
              <a:t>Civic Grievance Assistant</a:t>
            </a:r>
            <a:endParaRPr lang="en-US" sz="1600" dirty="0"/>
          </a:p>
        </p:txBody>
      </p:sp>
      <p:sp>
        <p:nvSpPr>
          <p:cNvPr id="16" name="Text 12"/>
          <p:cNvSpPr txBox="1"/>
          <p:nvPr/>
        </p:nvSpPr>
        <p:spPr>
          <a:xfrm>
            <a:off x="6629400" y="2834640"/>
            <a:ext cx="4709160" cy="1371600"/>
          </a:xfrm>
          <a:prstGeom prst="rect">
            <a:avLst/>
          </a:prstGeom>
          <a:noFill/>
          <a:ln/>
        </p:spPr>
        <p:txBody>
          <a:bodyPr wrap="square" lIns="0" tIns="0" rIns="0" bIns="0" rtlCol="0" anchor="ctr"/>
          <a:lstStyle/>
          <a:p>
            <a:pPr indent="0" marL="0">
              <a:lnSpc>
                <a:spcPts val="1900"/>
              </a:lnSpc>
              <a:buNone/>
            </a:pPr>
            <a:r>
              <a:rPr lang="en-US" sz="1250" dirty="0">
                <a:solidFill>
                  <a:srgbClr val="EAF6F2"/>
                </a:solidFill>
                <a:latin typeface="Calibri" pitchFamily="34" charset="0"/>
                <a:ea typeface="Calibri" pitchFamily="34" charset="-122"/>
                <a:cs typeface="Calibri" pitchFamily="34" charset="-120"/>
              </a:rPr>
              <a:t>A conversational agent, built and orchestrated with IBM BOB, lets citizens report waterlogging in plain language. It extracts the location and issue type, classifies severity, retrieves the right municipal SOP, and routes the ticket to the correct department automatically.</a:t>
            </a:r>
            <a:endParaRPr lang="en-US" sz="1250" dirty="0"/>
          </a:p>
        </p:txBody>
      </p:sp>
      <p:sp>
        <p:nvSpPr>
          <p:cNvPr id="17" name="Shape 13"/>
          <p:cNvSpPr/>
          <p:nvPr/>
        </p:nvSpPr>
        <p:spPr>
          <a:xfrm>
            <a:off x="6629400" y="4251960"/>
            <a:ext cx="4709160" cy="0"/>
          </a:xfrm>
          <a:prstGeom prst="line">
            <a:avLst/>
          </a:prstGeom>
          <a:noFill/>
          <a:ln w="12700">
            <a:solidFill>
              <a:srgbClr val="3D8AA7"/>
            </a:solidFill>
            <a:prstDash val="solid"/>
          </a:ln>
        </p:spPr>
      </p:sp>
      <p:sp>
        <p:nvSpPr>
          <p:cNvPr id="18" name="Text 14"/>
          <p:cNvSpPr txBox="1"/>
          <p:nvPr/>
        </p:nvSpPr>
        <p:spPr>
          <a:xfrm>
            <a:off x="6629400" y="4389120"/>
            <a:ext cx="4709160" cy="320040"/>
          </a:xfrm>
          <a:prstGeom prst="rect">
            <a:avLst/>
          </a:prstGeom>
          <a:noFill/>
          <a:ln/>
        </p:spPr>
        <p:txBody>
          <a:bodyPr wrap="square" lIns="0" tIns="0" rIns="0" bIns="0" rtlCol="0" anchor="ctr"/>
          <a:lstStyle/>
          <a:p>
            <a:pPr indent="0" marL="0">
              <a:buNone/>
            </a:pPr>
            <a:r>
              <a:rPr lang="en-US" sz="1150" i="1" dirty="0">
                <a:solidFill>
                  <a:srgbClr val="F8DFA0"/>
                </a:solidFill>
                <a:latin typeface="Calibri" pitchFamily="34" charset="0"/>
                <a:ea typeface="Calibri" pitchFamily="34" charset="-122"/>
                <a:cs typeface="Calibri" pitchFamily="34" charset="-120"/>
              </a:rPr>
              <a:t>AI technique: RAG + agentic routing + conversational UI</a:t>
            </a:r>
            <a:endParaRPr lang="en-US" sz="1150" dirty="0"/>
          </a:p>
        </p:txBody>
      </p:sp>
      <p:sp>
        <p:nvSpPr>
          <p:cNvPr id="19" name="Text 15"/>
          <p:cNvSpPr txBox="1"/>
          <p:nvPr/>
        </p:nvSpPr>
        <p:spPr>
          <a:xfrm>
            <a:off x="6629400" y="4709160"/>
            <a:ext cx="4709160" cy="320040"/>
          </a:xfrm>
          <a:prstGeom prst="rect">
            <a:avLst/>
          </a:prstGeom>
          <a:noFill/>
          <a:ln/>
        </p:spPr>
        <p:txBody>
          <a:bodyPr wrap="square" lIns="0" tIns="0" rIns="0" bIns="0" rtlCol="0" anchor="ctr"/>
          <a:lstStyle/>
          <a:p>
            <a:pPr indent="0" marL="0">
              <a:buNone/>
            </a:pPr>
            <a:r>
              <a:rPr lang="en-US" sz="1150" i="1" dirty="0">
                <a:solidFill>
                  <a:srgbClr val="F8DFA0"/>
                </a:solidFill>
                <a:latin typeface="Calibri" pitchFamily="34" charset="0"/>
                <a:ea typeface="Calibri" pitchFamily="34" charset="-122"/>
                <a:cs typeface="Calibri" pitchFamily="34" charset="-120"/>
              </a:rPr>
              <a:t>Output: ticket ID, severity, department, citizen reply</a:t>
            </a:r>
            <a:endParaRPr lang="en-US" sz="1150" dirty="0"/>
          </a:p>
        </p:txBody>
      </p:sp>
      <p:sp>
        <p:nvSpPr>
          <p:cNvPr id="20" name="Text 16"/>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1" name="Text 17"/>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ROLE OF AI</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Where and How AI Is Used</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3383280"/>
                <a:gridCol w="4206240"/>
                <a:gridCol w="3474720"/>
              </a:tblGrid>
              <a:tr h="4572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AI Capability</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0B3D6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Applied To</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0B3D62"/>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Why It's Needed</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0B3D62"/>
                    </a:solidFill>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Classification / Prediction</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Ward-level flood-risk scoring from rainfall + drainage + terrain data</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Turns raw weather data into an actionable early-warning signal</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Information Retrieval &amp; Summarization (RAG)</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Answering citizen queries from municipal SOPs &amp; drainage policy docs</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Keeps answers grounded in official procedure, not guesswork</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Pattern Detection</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Spotting recurring waterlogging hotspots in historic complaint data</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Helps planners prioritize permanent drainage fixes, not just patches</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Decision Support</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Ranking open tickets by severity and risk overlap</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Gives limited repair crews a data-driven priority order</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Automation Using Agents</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End-to-end grievance intake → classification → routing, via IBM BOB</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Removes manual triage delay between citizen report and department</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566928">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Conversational Interface</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Citizen-facing chat for reporting issues &amp; receiving flood alerts</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150" dirty="0">
                          <a:solidFill>
                            <a:srgbClr val="1B2A38"/>
                          </a:solidFill>
                          <a:latin typeface="Calibri" pitchFamily="34" charset="0"/>
                          <a:ea typeface="Calibri" pitchFamily="34" charset="-122"/>
                          <a:cs typeface="Calibri" pitchFamily="34" charset="-120"/>
                        </a:rPr>
                        <a:t>Makes the system accessible without app downloads or training</a:t>
                      </a:r>
                      <a:endParaRPr lang="en-US" sz="115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bl>
          </a:graphicData>
        </a:graphic>
      </p:graphicFrame>
      <p:sp>
        <p:nvSpPr>
          <p:cNvPr id="5" name="Text 2"/>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6" name="Text 3"/>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TOOLS &amp; COMPONENTS</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AI Building Blocks Used in This Project</a:t>
            </a:r>
            <a:endParaRPr lang="en-US" sz="3000" dirty="0"/>
          </a:p>
        </p:txBody>
      </p:sp>
      <p:sp>
        <p:nvSpPr>
          <p:cNvPr id="4" name="Shape 2"/>
          <p:cNvSpPr/>
          <p:nvPr/>
        </p:nvSpPr>
        <p:spPr>
          <a:xfrm>
            <a:off x="548640" y="1508760"/>
            <a:ext cx="3538728" cy="2194560"/>
          </a:xfrm>
          <a:prstGeom prst="roundRect">
            <a:avLst>
              <a:gd name="adj" fmla="val 3333"/>
            </a:avLst>
          </a:prstGeom>
          <a:solidFill>
            <a:srgbClr val="F5F9FA"/>
          </a:solidFill>
          <a:ln/>
        </p:spPr>
      </p:sp>
      <p:sp>
        <p:nvSpPr>
          <p:cNvPr id="5" name="Shape 3"/>
          <p:cNvSpPr/>
          <p:nvPr/>
        </p:nvSpPr>
        <p:spPr>
          <a:xfrm>
            <a:off x="804672" y="1764792"/>
            <a:ext cx="640080" cy="640080"/>
          </a:xfrm>
          <a:prstGeom prst="ellipse">
            <a:avLst/>
          </a:prstGeom>
          <a:solidFill>
            <a:srgbClr val="C97F12"/>
          </a:solidFill>
          <a:ln/>
        </p:spPr>
      </p:sp>
      <p:pic>
        <p:nvPicPr>
          <p:cNvPr id="6" name="Image 0" descr="icons/cogs.png">    </p:cNvPr>
          <p:cNvPicPr>
            <a:picLocks noChangeAspect="1"/>
          </p:cNvPicPr>
          <p:nvPr/>
        </p:nvPicPr>
        <p:blipFill>
          <a:blip r:embed="rId1"/>
          <a:stretch>
            <a:fillRect/>
          </a:stretch>
        </p:blipFill>
        <p:spPr>
          <a:xfrm>
            <a:off x="948690" y="1908810"/>
            <a:ext cx="352044" cy="352044"/>
          </a:xfrm>
          <a:prstGeom prst="rect">
            <a:avLst/>
          </a:prstGeom>
        </p:spPr>
      </p:pic>
      <p:sp>
        <p:nvSpPr>
          <p:cNvPr id="7" name="Text 4"/>
          <p:cNvSpPr txBox="1"/>
          <p:nvPr/>
        </p:nvSpPr>
        <p:spPr>
          <a:xfrm>
            <a:off x="804672" y="251460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IBM BOB</a:t>
            </a:r>
            <a:endParaRPr lang="en-US" sz="1400" dirty="0"/>
          </a:p>
        </p:txBody>
      </p:sp>
      <p:sp>
        <p:nvSpPr>
          <p:cNvPr id="8" name="Text 5"/>
          <p:cNvSpPr txBox="1"/>
          <p:nvPr/>
        </p:nvSpPr>
        <p:spPr>
          <a:xfrm>
            <a:off x="804672" y="288036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Agentic AI development environment used to design, connect and test the grievance-routing agent workflow end to end.</a:t>
            </a:r>
            <a:endParaRPr lang="en-US" sz="1080" dirty="0"/>
          </a:p>
        </p:txBody>
      </p:sp>
      <p:sp>
        <p:nvSpPr>
          <p:cNvPr id="9" name="Shape 6"/>
          <p:cNvSpPr/>
          <p:nvPr/>
        </p:nvSpPr>
        <p:spPr>
          <a:xfrm>
            <a:off x="4325112" y="1508760"/>
            <a:ext cx="3538728" cy="2194560"/>
          </a:xfrm>
          <a:prstGeom prst="roundRect">
            <a:avLst>
              <a:gd name="adj" fmla="val 3333"/>
            </a:avLst>
          </a:prstGeom>
          <a:solidFill>
            <a:srgbClr val="F5F9FA"/>
          </a:solidFill>
          <a:ln/>
        </p:spPr>
      </p:sp>
      <p:sp>
        <p:nvSpPr>
          <p:cNvPr id="10" name="Shape 7"/>
          <p:cNvSpPr/>
          <p:nvPr/>
        </p:nvSpPr>
        <p:spPr>
          <a:xfrm>
            <a:off x="4581144" y="1764792"/>
            <a:ext cx="640080" cy="640080"/>
          </a:xfrm>
          <a:prstGeom prst="ellipse">
            <a:avLst/>
          </a:prstGeom>
          <a:solidFill>
            <a:srgbClr val="1C7293"/>
          </a:solidFill>
          <a:ln/>
        </p:spPr>
      </p:sp>
      <p:pic>
        <p:nvPicPr>
          <p:cNvPr id="11" name="Image 1" descr="icons/robot.png">    </p:cNvPr>
          <p:cNvPicPr>
            <a:picLocks noChangeAspect="1"/>
          </p:cNvPicPr>
          <p:nvPr/>
        </p:nvPicPr>
        <p:blipFill>
          <a:blip r:embed="rId2"/>
          <a:stretch>
            <a:fillRect/>
          </a:stretch>
        </p:blipFill>
        <p:spPr>
          <a:xfrm>
            <a:off x="4725162" y="1908810"/>
            <a:ext cx="352044" cy="352044"/>
          </a:xfrm>
          <a:prstGeom prst="rect">
            <a:avLst/>
          </a:prstGeom>
        </p:spPr>
      </p:pic>
      <p:sp>
        <p:nvSpPr>
          <p:cNvPr id="12" name="Text 8"/>
          <p:cNvSpPr txBox="1"/>
          <p:nvPr/>
        </p:nvSpPr>
        <p:spPr>
          <a:xfrm>
            <a:off x="4581144" y="251460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IBM Granite Models</a:t>
            </a:r>
            <a:endParaRPr lang="en-US" sz="1400" dirty="0"/>
          </a:p>
        </p:txBody>
      </p:sp>
      <p:sp>
        <p:nvSpPr>
          <p:cNvPr id="13" name="Text 9"/>
          <p:cNvSpPr txBox="1"/>
          <p:nvPr/>
        </p:nvSpPr>
        <p:spPr>
          <a:xfrm>
            <a:off x="4581144" y="288036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Foundation models used for classification, entity extraction and summarization tasks in both modules.</a:t>
            </a:r>
            <a:endParaRPr lang="en-US" sz="1080" dirty="0"/>
          </a:p>
        </p:txBody>
      </p:sp>
      <p:sp>
        <p:nvSpPr>
          <p:cNvPr id="14" name="Shape 10"/>
          <p:cNvSpPr/>
          <p:nvPr/>
        </p:nvSpPr>
        <p:spPr>
          <a:xfrm>
            <a:off x="8101584" y="1508760"/>
            <a:ext cx="3538728" cy="2194560"/>
          </a:xfrm>
          <a:prstGeom prst="roundRect">
            <a:avLst>
              <a:gd name="adj" fmla="val 3333"/>
            </a:avLst>
          </a:prstGeom>
          <a:solidFill>
            <a:srgbClr val="F5F9FA"/>
          </a:solidFill>
          <a:ln/>
        </p:spPr>
      </p:sp>
      <p:sp>
        <p:nvSpPr>
          <p:cNvPr id="15" name="Shape 11"/>
          <p:cNvSpPr/>
          <p:nvPr/>
        </p:nvSpPr>
        <p:spPr>
          <a:xfrm>
            <a:off x="8357616" y="1764792"/>
            <a:ext cx="640080" cy="640080"/>
          </a:xfrm>
          <a:prstGeom prst="ellipse">
            <a:avLst/>
          </a:prstGeom>
          <a:solidFill>
            <a:srgbClr val="1C7293"/>
          </a:solidFill>
          <a:ln/>
        </p:spPr>
      </p:sp>
      <p:pic>
        <p:nvPicPr>
          <p:cNvPr id="16" name="Image 2" descr="icons/database.png">    </p:cNvPr>
          <p:cNvPicPr>
            <a:picLocks noChangeAspect="1"/>
          </p:cNvPicPr>
          <p:nvPr/>
        </p:nvPicPr>
        <p:blipFill>
          <a:blip r:embed="rId3"/>
          <a:stretch>
            <a:fillRect/>
          </a:stretch>
        </p:blipFill>
        <p:spPr>
          <a:xfrm>
            <a:off x="8501634" y="1908810"/>
            <a:ext cx="352044" cy="352044"/>
          </a:xfrm>
          <a:prstGeom prst="rect">
            <a:avLst/>
          </a:prstGeom>
        </p:spPr>
      </p:pic>
      <p:sp>
        <p:nvSpPr>
          <p:cNvPr id="17" name="Text 12"/>
          <p:cNvSpPr txBox="1"/>
          <p:nvPr/>
        </p:nvSpPr>
        <p:spPr>
          <a:xfrm>
            <a:off x="8357616" y="251460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Retrieval-Augmented Generation</a:t>
            </a:r>
            <a:endParaRPr lang="en-US" sz="1400" dirty="0"/>
          </a:p>
        </p:txBody>
      </p:sp>
      <p:sp>
        <p:nvSpPr>
          <p:cNvPr id="18" name="Text 13"/>
          <p:cNvSpPr txBox="1"/>
          <p:nvPr/>
        </p:nvSpPr>
        <p:spPr>
          <a:xfrm>
            <a:off x="8357616" y="288036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Grounds citizen-facing answers in actual municipal SOPs and drainage policy documents.</a:t>
            </a:r>
            <a:endParaRPr lang="en-US" sz="1080" dirty="0"/>
          </a:p>
        </p:txBody>
      </p:sp>
      <p:sp>
        <p:nvSpPr>
          <p:cNvPr id="19" name="Shape 14"/>
          <p:cNvSpPr/>
          <p:nvPr/>
        </p:nvSpPr>
        <p:spPr>
          <a:xfrm>
            <a:off x="548640" y="3886200"/>
            <a:ext cx="3538728" cy="2194560"/>
          </a:xfrm>
          <a:prstGeom prst="roundRect">
            <a:avLst>
              <a:gd name="adj" fmla="val 3333"/>
            </a:avLst>
          </a:prstGeom>
          <a:solidFill>
            <a:srgbClr val="F5F9FA"/>
          </a:solidFill>
          <a:ln/>
        </p:spPr>
      </p:sp>
      <p:sp>
        <p:nvSpPr>
          <p:cNvPr id="20" name="Shape 15"/>
          <p:cNvSpPr/>
          <p:nvPr/>
        </p:nvSpPr>
        <p:spPr>
          <a:xfrm>
            <a:off x="804672" y="4142232"/>
            <a:ext cx="640080" cy="640080"/>
          </a:xfrm>
          <a:prstGeom prst="ellipse">
            <a:avLst/>
          </a:prstGeom>
          <a:solidFill>
            <a:srgbClr val="1C7293"/>
          </a:solidFill>
          <a:ln/>
        </p:spPr>
      </p:sp>
      <p:pic>
        <p:nvPicPr>
          <p:cNvPr id="21" name="Image 3" descr="icons/sitemap.png">    </p:cNvPr>
          <p:cNvPicPr>
            <a:picLocks noChangeAspect="1"/>
          </p:cNvPicPr>
          <p:nvPr/>
        </p:nvPicPr>
        <p:blipFill>
          <a:blip r:embed="rId4"/>
          <a:stretch>
            <a:fillRect/>
          </a:stretch>
        </p:blipFill>
        <p:spPr>
          <a:xfrm>
            <a:off x="948690" y="4286250"/>
            <a:ext cx="352044" cy="352044"/>
          </a:xfrm>
          <a:prstGeom prst="rect">
            <a:avLst/>
          </a:prstGeom>
        </p:spPr>
      </p:pic>
      <p:sp>
        <p:nvSpPr>
          <p:cNvPr id="22" name="Text 16"/>
          <p:cNvSpPr txBox="1"/>
          <p:nvPr/>
        </p:nvSpPr>
        <p:spPr>
          <a:xfrm>
            <a:off x="804672" y="489204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Agentic AI Workflow</a:t>
            </a:r>
            <a:endParaRPr lang="en-US" sz="1400" dirty="0"/>
          </a:p>
        </p:txBody>
      </p:sp>
      <p:sp>
        <p:nvSpPr>
          <p:cNvPr id="23" name="Text 17"/>
          <p:cNvSpPr txBox="1"/>
          <p:nvPr/>
        </p:nvSpPr>
        <p:spPr>
          <a:xfrm>
            <a:off x="804672" y="525780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Multi-step pipeline: intake → extraction → classification → retrieval → routing → status update.</a:t>
            </a:r>
            <a:endParaRPr lang="en-US" sz="1080" dirty="0"/>
          </a:p>
        </p:txBody>
      </p:sp>
      <p:sp>
        <p:nvSpPr>
          <p:cNvPr id="24" name="Shape 18"/>
          <p:cNvSpPr/>
          <p:nvPr/>
        </p:nvSpPr>
        <p:spPr>
          <a:xfrm>
            <a:off x="4325112" y="3886200"/>
            <a:ext cx="3538728" cy="2194560"/>
          </a:xfrm>
          <a:prstGeom prst="roundRect">
            <a:avLst>
              <a:gd name="adj" fmla="val 3333"/>
            </a:avLst>
          </a:prstGeom>
          <a:solidFill>
            <a:srgbClr val="F5F9FA"/>
          </a:solidFill>
          <a:ln/>
        </p:spPr>
      </p:sp>
      <p:sp>
        <p:nvSpPr>
          <p:cNvPr id="25" name="Shape 19"/>
          <p:cNvSpPr/>
          <p:nvPr/>
        </p:nvSpPr>
        <p:spPr>
          <a:xfrm>
            <a:off x="4581144" y="4142232"/>
            <a:ext cx="640080" cy="640080"/>
          </a:xfrm>
          <a:prstGeom prst="ellipse">
            <a:avLst/>
          </a:prstGeom>
          <a:solidFill>
            <a:srgbClr val="1C7293"/>
          </a:solidFill>
          <a:ln/>
        </p:spPr>
      </p:sp>
      <p:pic>
        <p:nvPicPr>
          <p:cNvPr id="26" name="Image 4" descr="icons/clipboard.png">    </p:cNvPr>
          <p:cNvPicPr>
            <a:picLocks noChangeAspect="1"/>
          </p:cNvPicPr>
          <p:nvPr/>
        </p:nvPicPr>
        <p:blipFill>
          <a:blip r:embed="rId5"/>
          <a:stretch>
            <a:fillRect/>
          </a:stretch>
        </p:blipFill>
        <p:spPr>
          <a:xfrm>
            <a:off x="4725162" y="4286250"/>
            <a:ext cx="352044" cy="352044"/>
          </a:xfrm>
          <a:prstGeom prst="rect">
            <a:avLst/>
          </a:prstGeom>
        </p:spPr>
      </p:pic>
      <p:sp>
        <p:nvSpPr>
          <p:cNvPr id="27" name="Text 20"/>
          <p:cNvSpPr txBox="1"/>
          <p:nvPr/>
        </p:nvSpPr>
        <p:spPr>
          <a:xfrm>
            <a:off x="4581144" y="489204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Prompt Engineering</a:t>
            </a:r>
            <a:endParaRPr lang="en-US" sz="1400" dirty="0"/>
          </a:p>
        </p:txBody>
      </p:sp>
      <p:sp>
        <p:nvSpPr>
          <p:cNvPr id="28" name="Text 21"/>
          <p:cNvSpPr txBox="1"/>
          <p:nvPr/>
        </p:nvSpPr>
        <p:spPr>
          <a:xfrm>
            <a:off x="4581144" y="525780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Structured system prompts and output schemas keep model responses consistent and auditable.</a:t>
            </a:r>
            <a:endParaRPr lang="en-US" sz="1080" dirty="0"/>
          </a:p>
        </p:txBody>
      </p:sp>
      <p:sp>
        <p:nvSpPr>
          <p:cNvPr id="29" name="Shape 22"/>
          <p:cNvSpPr/>
          <p:nvPr/>
        </p:nvSpPr>
        <p:spPr>
          <a:xfrm>
            <a:off x="8101584" y="3886200"/>
            <a:ext cx="3538728" cy="2194560"/>
          </a:xfrm>
          <a:prstGeom prst="roundRect">
            <a:avLst>
              <a:gd name="adj" fmla="val 3333"/>
            </a:avLst>
          </a:prstGeom>
          <a:solidFill>
            <a:srgbClr val="F5F9FA"/>
          </a:solidFill>
          <a:ln/>
        </p:spPr>
      </p:sp>
      <p:sp>
        <p:nvSpPr>
          <p:cNvPr id="30" name="Shape 23"/>
          <p:cNvSpPr/>
          <p:nvPr/>
        </p:nvSpPr>
        <p:spPr>
          <a:xfrm>
            <a:off x="8357616" y="4142232"/>
            <a:ext cx="640080" cy="640080"/>
          </a:xfrm>
          <a:prstGeom prst="ellipse">
            <a:avLst/>
          </a:prstGeom>
          <a:solidFill>
            <a:srgbClr val="1C7293"/>
          </a:solidFill>
          <a:ln/>
        </p:spPr>
      </p:sp>
      <p:pic>
        <p:nvPicPr>
          <p:cNvPr id="31" name="Image 5" descr="icons/marker.png">    </p:cNvPr>
          <p:cNvPicPr>
            <a:picLocks noChangeAspect="1"/>
          </p:cNvPicPr>
          <p:nvPr/>
        </p:nvPicPr>
        <p:blipFill>
          <a:blip r:embed="rId6"/>
          <a:stretch>
            <a:fillRect/>
          </a:stretch>
        </p:blipFill>
        <p:spPr>
          <a:xfrm>
            <a:off x="8501634" y="4286250"/>
            <a:ext cx="352044" cy="352044"/>
          </a:xfrm>
          <a:prstGeom prst="rect">
            <a:avLst/>
          </a:prstGeom>
        </p:spPr>
      </p:pic>
      <p:sp>
        <p:nvSpPr>
          <p:cNvPr id="32" name="Text 24"/>
          <p:cNvSpPr txBox="1"/>
          <p:nvPr/>
        </p:nvSpPr>
        <p:spPr>
          <a:xfrm>
            <a:off x="8357616" y="4892040"/>
            <a:ext cx="301752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Entity Extraction</a:t>
            </a:r>
            <a:endParaRPr lang="en-US" sz="1400" dirty="0"/>
          </a:p>
        </p:txBody>
      </p:sp>
      <p:sp>
        <p:nvSpPr>
          <p:cNvPr id="33" name="Text 25"/>
          <p:cNvSpPr txBox="1"/>
          <p:nvPr/>
        </p:nvSpPr>
        <p:spPr>
          <a:xfrm>
            <a:off x="8357616" y="5257800"/>
            <a:ext cx="3063240" cy="777240"/>
          </a:xfrm>
          <a:prstGeom prst="rect">
            <a:avLst/>
          </a:prstGeom>
          <a:noFill/>
          <a:ln/>
        </p:spPr>
        <p:txBody>
          <a:bodyPr wrap="square" lIns="0" tIns="0" rIns="0" bIns="0" rtlCol="0" anchor="ctr"/>
          <a:lstStyle/>
          <a:p>
            <a:pPr indent="0" marL="0">
              <a:lnSpc>
                <a:spcPts val="1400"/>
              </a:lnSpc>
              <a:buNone/>
            </a:pPr>
            <a:r>
              <a:rPr lang="en-US" sz="1080" dirty="0">
                <a:solidFill>
                  <a:srgbClr val="5B6B77"/>
                </a:solidFill>
                <a:latin typeface="Calibri" pitchFamily="34" charset="0"/>
                <a:ea typeface="Calibri" pitchFamily="34" charset="-122"/>
                <a:cs typeface="Calibri" pitchFamily="34" charset="-120"/>
              </a:rPr>
              <a:t>Pulls ward, landmark and issue-type from free-text citizen messages for accurate routing.</a:t>
            </a:r>
            <a:endParaRPr lang="en-US" sz="1080" dirty="0"/>
          </a:p>
        </p:txBody>
      </p:sp>
      <p:sp>
        <p:nvSpPr>
          <p:cNvPr id="34" name="Text 26"/>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050" i="1" dirty="0">
                <a:solidFill>
                  <a:srgbClr val="C97F12"/>
                </a:solidFill>
                <a:latin typeface="Calibri" pitchFamily="34" charset="0"/>
                <a:ea typeface="Calibri" pitchFamily="34" charset="-122"/>
                <a:cs typeface="Calibri" pitchFamily="34" charset="-120"/>
              </a:rPr>
              <a:t>★ IBM BOB is the mandatory core tool for this internship — it is the agent-development environment in which Module 2's workflow was designed, wired to tools, and iteratively tested.</a:t>
            </a:r>
            <a:endParaRPr lang="en-US" sz="1050" dirty="0"/>
          </a:p>
        </p:txBody>
      </p:sp>
      <p:sp>
        <p:nvSpPr>
          <p:cNvPr id="35" name="Text 27"/>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6" name="Text 28"/>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PROTOTYPE · FLOW DIAGRAM</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548640" y="1600200"/>
            <a:ext cx="1417320" cy="822960"/>
          </a:xfrm>
          <a:prstGeom prst="roundRect">
            <a:avLst>
              <a:gd name="adj" fmla="val 7778"/>
            </a:avLst>
          </a:prstGeom>
          <a:solidFill>
            <a:srgbClr val="0B3D62"/>
          </a:solidFill>
          <a:ln/>
        </p:spPr>
      </p:sp>
      <p:sp>
        <p:nvSpPr>
          <p:cNvPr id="5" name="Text 3"/>
          <p:cNvSpPr txBox="1"/>
          <p:nvPr/>
        </p:nvSpPr>
        <p:spPr>
          <a:xfrm>
            <a:off x="594360" y="1600200"/>
            <a:ext cx="1325880" cy="822960"/>
          </a:xfrm>
          <a:prstGeom prst="rect">
            <a:avLst/>
          </a:prstGeom>
          <a:noFill/>
          <a:ln/>
        </p:spPr>
        <p:txBody>
          <a:bodyPr wrap="square" lIns="0" tIns="0" rIns="0" bIns="0" rtlCol="0" anchor="ctr"/>
          <a:lstStyle/>
          <a:p>
            <a:pPr algn="ctr" indent="0" marL="0">
              <a:lnSpc>
                <a:spcPts val="1300"/>
              </a:lnSpc>
              <a:buNone/>
            </a:pPr>
            <a:r>
              <a:rPr lang="en-US" sz="1150" b="1" dirty="0">
                <a:solidFill>
                  <a:srgbClr val="FFFFFF"/>
                </a:solidFill>
                <a:latin typeface="Calibri" pitchFamily="34" charset="0"/>
                <a:ea typeface="Calibri" pitchFamily="34" charset="-122"/>
                <a:cs typeface="Calibri" pitchFamily="34" charset="-120"/>
              </a:rPr>
              <a:t>Prediction</a:t>
            </a:r>
            <a:endParaRPr lang="en-US" sz="1150" dirty="0"/>
          </a:p>
          <a:p>
            <a:pPr algn="ctr" indent="0" marL="0">
              <a:lnSpc>
                <a:spcPts val="1300"/>
              </a:lnSpc>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p>
        </p:txBody>
      </p:sp>
      <p:sp>
        <p:nvSpPr>
          <p:cNvPr id="6" name="Shape 4"/>
          <p:cNvSpPr/>
          <p:nvPr/>
        </p:nvSpPr>
        <p:spPr>
          <a:xfrm>
            <a:off x="2240280" y="1600200"/>
            <a:ext cx="1572768" cy="822960"/>
          </a:xfrm>
          <a:prstGeom prst="roundRect">
            <a:avLst>
              <a:gd name="adj" fmla="val 7778"/>
            </a:avLst>
          </a:prstGeom>
          <a:solidFill>
            <a:srgbClr val="EAF3F6"/>
          </a:solidFill>
          <a:ln w="12700">
            <a:solidFill>
              <a:srgbClr val="DCE6EA"/>
            </a:solidFill>
            <a:prstDash val="solid"/>
          </a:ln>
        </p:spPr>
      </p:sp>
      <p:sp>
        <p:nvSpPr>
          <p:cNvPr id="7" name="Text 5"/>
          <p:cNvSpPr txBox="1"/>
          <p:nvPr/>
        </p:nvSpPr>
        <p:spPr>
          <a:xfrm>
            <a:off x="2295144" y="165506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Rainfall,</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drainage &amp;</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terrain data</a:t>
            </a:r>
            <a:endParaRPr lang="en-US" sz="980" dirty="0"/>
          </a:p>
        </p:txBody>
      </p:sp>
      <p:sp>
        <p:nvSpPr>
          <p:cNvPr id="8" name="Text 6"/>
          <p:cNvSpPr txBox="1"/>
          <p:nvPr/>
        </p:nvSpPr>
        <p:spPr>
          <a:xfrm>
            <a:off x="3813048" y="180136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9" name="Shape 7"/>
          <p:cNvSpPr/>
          <p:nvPr/>
        </p:nvSpPr>
        <p:spPr>
          <a:xfrm>
            <a:off x="4069080" y="1600200"/>
            <a:ext cx="1572768" cy="822960"/>
          </a:xfrm>
          <a:prstGeom prst="roundRect">
            <a:avLst>
              <a:gd name="adj" fmla="val 7778"/>
            </a:avLst>
          </a:prstGeom>
          <a:solidFill>
            <a:srgbClr val="EAF3F6"/>
          </a:solidFill>
          <a:ln w="12700">
            <a:solidFill>
              <a:srgbClr val="DCE6EA"/>
            </a:solidFill>
            <a:prstDash val="solid"/>
          </a:ln>
        </p:spPr>
      </p:sp>
      <p:sp>
        <p:nvSpPr>
          <p:cNvPr id="10" name="Text 8"/>
          <p:cNvSpPr txBox="1"/>
          <p:nvPr/>
        </p:nvSpPr>
        <p:spPr>
          <a:xfrm>
            <a:off x="4123944" y="165506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IBM Granite</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risk scoring</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model</a:t>
            </a:r>
            <a:endParaRPr lang="en-US" sz="980" dirty="0"/>
          </a:p>
        </p:txBody>
      </p:sp>
      <p:sp>
        <p:nvSpPr>
          <p:cNvPr id="11" name="Text 9"/>
          <p:cNvSpPr txBox="1"/>
          <p:nvPr/>
        </p:nvSpPr>
        <p:spPr>
          <a:xfrm>
            <a:off x="5641848" y="180136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12" name="Shape 10"/>
          <p:cNvSpPr/>
          <p:nvPr/>
        </p:nvSpPr>
        <p:spPr>
          <a:xfrm>
            <a:off x="5897880" y="1600200"/>
            <a:ext cx="1572768" cy="822960"/>
          </a:xfrm>
          <a:prstGeom prst="roundRect">
            <a:avLst>
              <a:gd name="adj" fmla="val 7778"/>
            </a:avLst>
          </a:prstGeom>
          <a:solidFill>
            <a:srgbClr val="EAF3F6"/>
          </a:solidFill>
          <a:ln w="12700">
            <a:solidFill>
              <a:srgbClr val="DCE6EA"/>
            </a:solidFill>
            <a:prstDash val="solid"/>
          </a:ln>
        </p:spPr>
      </p:sp>
      <p:sp>
        <p:nvSpPr>
          <p:cNvPr id="13" name="Text 11"/>
          <p:cNvSpPr txBox="1"/>
          <p:nvPr/>
        </p:nvSpPr>
        <p:spPr>
          <a:xfrm>
            <a:off x="5952744" y="165506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Ward-level</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risk score</a:t>
            </a:r>
            <a:endParaRPr lang="en-US" sz="980" dirty="0"/>
          </a:p>
        </p:txBody>
      </p:sp>
      <p:sp>
        <p:nvSpPr>
          <p:cNvPr id="14" name="Text 12"/>
          <p:cNvSpPr txBox="1"/>
          <p:nvPr/>
        </p:nvSpPr>
        <p:spPr>
          <a:xfrm>
            <a:off x="7470648" y="180136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15" name="Shape 13"/>
          <p:cNvSpPr/>
          <p:nvPr/>
        </p:nvSpPr>
        <p:spPr>
          <a:xfrm>
            <a:off x="7726680" y="1600200"/>
            <a:ext cx="1572768" cy="822960"/>
          </a:xfrm>
          <a:prstGeom prst="roundRect">
            <a:avLst>
              <a:gd name="adj" fmla="val 7778"/>
            </a:avLst>
          </a:prstGeom>
          <a:solidFill>
            <a:srgbClr val="EAF3F6"/>
          </a:solidFill>
          <a:ln w="12700">
            <a:solidFill>
              <a:srgbClr val="DCE6EA"/>
            </a:solidFill>
            <a:prstDash val="solid"/>
          </a:ln>
        </p:spPr>
      </p:sp>
      <p:sp>
        <p:nvSpPr>
          <p:cNvPr id="16" name="Text 14"/>
          <p:cNvSpPr txBox="1"/>
          <p:nvPr/>
        </p:nvSpPr>
        <p:spPr>
          <a:xfrm>
            <a:off x="7781544" y="165506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Alert to</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residents &amp;</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officials</a:t>
            </a:r>
            <a:endParaRPr lang="en-US" sz="980" dirty="0"/>
          </a:p>
        </p:txBody>
      </p:sp>
      <p:sp>
        <p:nvSpPr>
          <p:cNvPr id="17" name="Shape 15"/>
          <p:cNvSpPr/>
          <p:nvPr/>
        </p:nvSpPr>
        <p:spPr>
          <a:xfrm>
            <a:off x="548640" y="2880360"/>
            <a:ext cx="1417320" cy="822960"/>
          </a:xfrm>
          <a:prstGeom prst="roundRect">
            <a:avLst>
              <a:gd name="adj" fmla="val 7778"/>
            </a:avLst>
          </a:prstGeom>
          <a:solidFill>
            <a:srgbClr val="1C7293"/>
          </a:solidFill>
          <a:ln/>
        </p:spPr>
      </p:sp>
      <p:sp>
        <p:nvSpPr>
          <p:cNvPr id="18" name="Text 16"/>
          <p:cNvSpPr txBox="1"/>
          <p:nvPr/>
        </p:nvSpPr>
        <p:spPr>
          <a:xfrm>
            <a:off x="594360" y="2880360"/>
            <a:ext cx="1325880" cy="822960"/>
          </a:xfrm>
          <a:prstGeom prst="rect">
            <a:avLst/>
          </a:prstGeom>
          <a:noFill/>
          <a:ln/>
        </p:spPr>
        <p:txBody>
          <a:bodyPr wrap="square" lIns="0" tIns="0" rIns="0" bIns="0" rtlCol="0" anchor="ctr"/>
          <a:lstStyle/>
          <a:p>
            <a:pPr algn="ctr" indent="0" marL="0">
              <a:lnSpc>
                <a:spcPts val="1300"/>
              </a:lnSpc>
              <a:buNone/>
            </a:pPr>
            <a:r>
              <a:rPr lang="en-US" sz="1150" b="1" dirty="0">
                <a:solidFill>
                  <a:srgbClr val="FFFFFF"/>
                </a:solidFill>
                <a:latin typeface="Calibri" pitchFamily="34" charset="0"/>
                <a:ea typeface="Calibri" pitchFamily="34" charset="-122"/>
                <a:cs typeface="Calibri" pitchFamily="34" charset="-120"/>
              </a:rPr>
              <a:t>Grievance</a:t>
            </a:r>
            <a:endParaRPr lang="en-US" sz="1150" dirty="0"/>
          </a:p>
          <a:p>
            <a:pPr algn="ctr" indent="0" marL="0">
              <a:lnSpc>
                <a:spcPts val="1300"/>
              </a:lnSpc>
              <a:buNone/>
            </a:pPr>
            <a:r>
              <a:rPr lang="en-US" sz="1150" b="1" dirty="0">
                <a:solidFill>
                  <a:srgbClr val="FFFFFF"/>
                </a:solidFill>
                <a:latin typeface="Calibri" pitchFamily="34" charset="0"/>
                <a:ea typeface="Calibri" pitchFamily="34" charset="-122"/>
                <a:cs typeface="Calibri" pitchFamily="34" charset="-120"/>
              </a:rPr>
              <a:t>Module</a:t>
            </a:r>
            <a:endParaRPr lang="en-US" sz="1150" dirty="0"/>
          </a:p>
        </p:txBody>
      </p:sp>
      <p:sp>
        <p:nvSpPr>
          <p:cNvPr id="19" name="Shape 17"/>
          <p:cNvSpPr/>
          <p:nvPr/>
        </p:nvSpPr>
        <p:spPr>
          <a:xfrm>
            <a:off x="2240280" y="2880360"/>
            <a:ext cx="1572768" cy="822960"/>
          </a:xfrm>
          <a:prstGeom prst="roundRect">
            <a:avLst>
              <a:gd name="adj" fmla="val 7778"/>
            </a:avLst>
          </a:prstGeom>
          <a:solidFill>
            <a:srgbClr val="FDF3E4"/>
          </a:solidFill>
          <a:ln w="12700">
            <a:solidFill>
              <a:srgbClr val="DCE6EA"/>
            </a:solidFill>
            <a:prstDash val="solid"/>
          </a:ln>
        </p:spPr>
      </p:sp>
      <p:sp>
        <p:nvSpPr>
          <p:cNvPr id="20" name="Text 18"/>
          <p:cNvSpPr txBox="1"/>
          <p:nvPr/>
        </p:nvSpPr>
        <p:spPr>
          <a:xfrm>
            <a:off x="2295144" y="293522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Citizen</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message</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(text/image)</a:t>
            </a:r>
            <a:endParaRPr lang="en-US" sz="980" dirty="0"/>
          </a:p>
        </p:txBody>
      </p:sp>
      <p:sp>
        <p:nvSpPr>
          <p:cNvPr id="21" name="Text 19"/>
          <p:cNvSpPr txBox="1"/>
          <p:nvPr/>
        </p:nvSpPr>
        <p:spPr>
          <a:xfrm>
            <a:off x="3813048" y="308152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22" name="Shape 20"/>
          <p:cNvSpPr/>
          <p:nvPr/>
        </p:nvSpPr>
        <p:spPr>
          <a:xfrm>
            <a:off x="4069080" y="2880360"/>
            <a:ext cx="1572768" cy="822960"/>
          </a:xfrm>
          <a:prstGeom prst="roundRect">
            <a:avLst>
              <a:gd name="adj" fmla="val 7778"/>
            </a:avLst>
          </a:prstGeom>
          <a:solidFill>
            <a:srgbClr val="FDF3E4"/>
          </a:solidFill>
          <a:ln w="12700">
            <a:solidFill>
              <a:srgbClr val="DCE6EA"/>
            </a:solidFill>
            <a:prstDash val="solid"/>
          </a:ln>
        </p:spPr>
      </p:sp>
      <p:sp>
        <p:nvSpPr>
          <p:cNvPr id="23" name="Text 21"/>
          <p:cNvSpPr txBox="1"/>
          <p:nvPr/>
        </p:nvSpPr>
        <p:spPr>
          <a:xfrm>
            <a:off x="4123944" y="293522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IBM BOB</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agent: extract</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entities</a:t>
            </a:r>
            <a:endParaRPr lang="en-US" sz="980" dirty="0"/>
          </a:p>
        </p:txBody>
      </p:sp>
      <p:sp>
        <p:nvSpPr>
          <p:cNvPr id="24" name="Text 22"/>
          <p:cNvSpPr txBox="1"/>
          <p:nvPr/>
        </p:nvSpPr>
        <p:spPr>
          <a:xfrm>
            <a:off x="5641848" y="308152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25" name="Shape 23"/>
          <p:cNvSpPr/>
          <p:nvPr/>
        </p:nvSpPr>
        <p:spPr>
          <a:xfrm>
            <a:off x="5897880" y="2880360"/>
            <a:ext cx="1572768" cy="822960"/>
          </a:xfrm>
          <a:prstGeom prst="roundRect">
            <a:avLst>
              <a:gd name="adj" fmla="val 7778"/>
            </a:avLst>
          </a:prstGeom>
          <a:solidFill>
            <a:srgbClr val="FDF3E4"/>
          </a:solidFill>
          <a:ln w="12700">
            <a:solidFill>
              <a:srgbClr val="DCE6EA"/>
            </a:solidFill>
            <a:prstDash val="solid"/>
          </a:ln>
        </p:spPr>
      </p:sp>
      <p:sp>
        <p:nvSpPr>
          <p:cNvPr id="26" name="Text 24"/>
          <p:cNvSpPr txBox="1"/>
          <p:nvPr/>
        </p:nvSpPr>
        <p:spPr>
          <a:xfrm>
            <a:off x="5952744" y="293522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RAG lookup:</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municipal</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SOP</a:t>
            </a:r>
            <a:endParaRPr lang="en-US" sz="980" dirty="0"/>
          </a:p>
        </p:txBody>
      </p:sp>
      <p:sp>
        <p:nvSpPr>
          <p:cNvPr id="27" name="Text 25"/>
          <p:cNvSpPr txBox="1"/>
          <p:nvPr/>
        </p:nvSpPr>
        <p:spPr>
          <a:xfrm>
            <a:off x="7470648" y="308152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28" name="Shape 26"/>
          <p:cNvSpPr/>
          <p:nvPr/>
        </p:nvSpPr>
        <p:spPr>
          <a:xfrm>
            <a:off x="7726680" y="2880360"/>
            <a:ext cx="1572768" cy="822960"/>
          </a:xfrm>
          <a:prstGeom prst="roundRect">
            <a:avLst>
              <a:gd name="adj" fmla="val 7778"/>
            </a:avLst>
          </a:prstGeom>
          <a:solidFill>
            <a:srgbClr val="FDF3E4"/>
          </a:solidFill>
          <a:ln w="12700">
            <a:solidFill>
              <a:srgbClr val="DCE6EA"/>
            </a:solidFill>
            <a:prstDash val="solid"/>
          </a:ln>
        </p:spPr>
      </p:sp>
      <p:sp>
        <p:nvSpPr>
          <p:cNvPr id="29" name="Text 27"/>
          <p:cNvSpPr txBox="1"/>
          <p:nvPr/>
        </p:nvSpPr>
        <p:spPr>
          <a:xfrm>
            <a:off x="7781544" y="293522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Severity</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classification</a:t>
            </a:r>
            <a:endParaRPr lang="en-US" sz="980" dirty="0"/>
          </a:p>
        </p:txBody>
      </p:sp>
      <p:sp>
        <p:nvSpPr>
          <p:cNvPr id="30" name="Text 28"/>
          <p:cNvSpPr txBox="1"/>
          <p:nvPr/>
        </p:nvSpPr>
        <p:spPr>
          <a:xfrm>
            <a:off x="9299448" y="3081528"/>
            <a:ext cx="256032" cy="411480"/>
          </a:xfrm>
          <a:prstGeom prst="rect">
            <a:avLst/>
          </a:prstGeom>
          <a:noFill/>
          <a:ln/>
        </p:spPr>
        <p:txBody>
          <a:bodyPr wrap="square" lIns="0" tIns="0" rIns="0" bIns="0" rtlCol="0" anchor="ctr"/>
          <a:lstStyle/>
          <a:p>
            <a:pPr algn="ctr" indent="0" marL="0">
              <a:buNone/>
            </a:pPr>
            <a:r>
              <a:rPr lang="en-US" sz="1800" b="1" dirty="0">
                <a:solidFill>
                  <a:srgbClr val="5B6B77"/>
                </a:solidFill>
              </a:rPr>
              <a:t>→</a:t>
            </a:r>
            <a:endParaRPr lang="en-US" sz="1800" dirty="0"/>
          </a:p>
        </p:txBody>
      </p:sp>
      <p:sp>
        <p:nvSpPr>
          <p:cNvPr id="31" name="Shape 29"/>
          <p:cNvSpPr/>
          <p:nvPr/>
        </p:nvSpPr>
        <p:spPr>
          <a:xfrm>
            <a:off x="9555480" y="2880360"/>
            <a:ext cx="1572768" cy="822960"/>
          </a:xfrm>
          <a:prstGeom prst="roundRect">
            <a:avLst>
              <a:gd name="adj" fmla="val 7778"/>
            </a:avLst>
          </a:prstGeom>
          <a:solidFill>
            <a:srgbClr val="FDF3E4"/>
          </a:solidFill>
          <a:ln w="12700">
            <a:solidFill>
              <a:srgbClr val="DCE6EA"/>
            </a:solidFill>
            <a:prstDash val="solid"/>
          </a:ln>
        </p:spPr>
      </p:sp>
      <p:sp>
        <p:nvSpPr>
          <p:cNvPr id="32" name="Text 30"/>
          <p:cNvSpPr txBox="1"/>
          <p:nvPr/>
        </p:nvSpPr>
        <p:spPr>
          <a:xfrm>
            <a:off x="9610344" y="2935224"/>
            <a:ext cx="1463040" cy="713232"/>
          </a:xfrm>
          <a:prstGeom prst="rect">
            <a:avLst/>
          </a:prstGeom>
          <a:noFill/>
          <a:ln/>
        </p:spPr>
        <p:txBody>
          <a:bodyPr wrap="square" lIns="0" tIns="0" rIns="0" bIns="0" rtlCol="0" anchor="ctr"/>
          <a:lstStyle/>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Auto-route</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to dept +</a:t>
            </a:r>
            <a:endParaRPr lang="en-US" sz="980" dirty="0"/>
          </a:p>
          <a:p>
            <a:pPr algn="ctr" indent="0" marL="0">
              <a:lnSpc>
                <a:spcPts val="1100"/>
              </a:lnSpc>
              <a:buNone/>
            </a:pPr>
            <a:r>
              <a:rPr lang="en-US" sz="980" dirty="0">
                <a:solidFill>
                  <a:srgbClr val="1B2A38"/>
                </a:solidFill>
                <a:latin typeface="Calibri" pitchFamily="34" charset="0"/>
                <a:ea typeface="Calibri" pitchFamily="34" charset="-122"/>
                <a:cs typeface="Calibri" pitchFamily="34" charset="-120"/>
              </a:rPr>
              <a:t>ticket ID</a:t>
            </a:r>
            <a:endParaRPr lang="en-US" sz="980" dirty="0"/>
          </a:p>
        </p:txBody>
      </p:sp>
      <p:sp>
        <p:nvSpPr>
          <p:cNvPr id="33" name="Shape 31"/>
          <p:cNvSpPr/>
          <p:nvPr/>
        </p:nvSpPr>
        <p:spPr>
          <a:xfrm>
            <a:off x="548640" y="4343400"/>
            <a:ext cx="11064240" cy="1783080"/>
          </a:xfrm>
          <a:prstGeom prst="roundRect">
            <a:avLst>
              <a:gd name="adj" fmla="val 4103"/>
            </a:avLst>
          </a:prstGeom>
          <a:solidFill>
            <a:srgbClr val="F5F9FA"/>
          </a:solidFill>
          <a:ln/>
        </p:spPr>
      </p:sp>
      <p:sp>
        <p:nvSpPr>
          <p:cNvPr id="34" name="Shape 32"/>
          <p:cNvSpPr/>
          <p:nvPr/>
        </p:nvSpPr>
        <p:spPr>
          <a:xfrm>
            <a:off x="868680" y="4617720"/>
            <a:ext cx="594360" cy="594360"/>
          </a:xfrm>
          <a:prstGeom prst="ellipse">
            <a:avLst/>
          </a:prstGeom>
          <a:solidFill>
            <a:srgbClr val="C97F12"/>
          </a:solidFill>
          <a:ln/>
        </p:spPr>
      </p:sp>
      <p:pic>
        <p:nvPicPr>
          <p:cNvPr id="35" name="Image 0" descr="icons/bell.png">    </p:cNvPr>
          <p:cNvPicPr>
            <a:picLocks noChangeAspect="1"/>
          </p:cNvPicPr>
          <p:nvPr/>
        </p:nvPicPr>
        <p:blipFill>
          <a:blip r:embed="rId1"/>
          <a:stretch>
            <a:fillRect/>
          </a:stretch>
        </p:blipFill>
        <p:spPr>
          <a:xfrm>
            <a:off x="1002411" y="4751451"/>
            <a:ext cx="326898" cy="326898"/>
          </a:xfrm>
          <a:prstGeom prst="rect">
            <a:avLst/>
          </a:prstGeom>
        </p:spPr>
      </p:pic>
      <p:sp>
        <p:nvSpPr>
          <p:cNvPr id="36" name="Text 33"/>
          <p:cNvSpPr txBox="1"/>
          <p:nvPr/>
        </p:nvSpPr>
        <p:spPr>
          <a:xfrm>
            <a:off x="1645920" y="4617720"/>
            <a:ext cx="969264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Both modules share one ward-level view</a:t>
            </a:r>
            <a:endParaRPr lang="en-US" sz="1400" dirty="0"/>
          </a:p>
        </p:txBody>
      </p:sp>
      <p:sp>
        <p:nvSpPr>
          <p:cNvPr id="37" name="Text 34"/>
          <p:cNvSpPr txBox="1"/>
          <p:nvPr/>
        </p:nvSpPr>
        <p:spPr>
          <a:xfrm>
            <a:off x="1645920" y="5010912"/>
            <a:ext cx="9601200" cy="1005840"/>
          </a:xfrm>
          <a:prstGeom prst="rect">
            <a:avLst/>
          </a:prstGeom>
          <a:noFill/>
          <a:ln/>
        </p:spPr>
        <p:txBody>
          <a:bodyPr wrap="square" lIns="0" tIns="0" rIns="0" bIns="0" rtlCol="0" anchor="ctr"/>
          <a:lstStyle/>
          <a:p>
            <a:pPr indent="0" marL="0">
              <a:lnSpc>
                <a:spcPts val="1800"/>
              </a:lnSpc>
              <a:buNone/>
            </a:pPr>
            <a:r>
              <a:rPr lang="en-US" sz="1200" dirty="0">
                <a:solidFill>
                  <a:srgbClr val="5B6B77"/>
                </a:solidFill>
                <a:latin typeface="Calibri" pitchFamily="34" charset="0"/>
                <a:ea typeface="Calibri" pitchFamily="34" charset="-122"/>
                <a:cs typeface="Calibri" pitchFamily="34" charset="-120"/>
              </a:rPr>
              <a:t>A predicted high-risk ward automatically raises the priority of any open grievance ticket in that ward, and repeated grievances in a ward feed back into refining the risk model over time — closing the loop between prediction and citizen-reported reality.</a:t>
            </a:r>
            <a:endParaRPr lang="en-US" sz="1200" dirty="0"/>
          </a:p>
        </p:txBody>
      </p:sp>
      <p:sp>
        <p:nvSpPr>
          <p:cNvPr id="38" name="Text 3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9" name="Text 36"/>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PROTOTYPE · PROMPT WORKFLOW</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Module 1 — Flood Risk Prediction Logic</a:t>
            </a:r>
            <a:endParaRPr lang="en-US" sz="3000" dirty="0"/>
          </a:p>
        </p:txBody>
      </p:sp>
      <p:sp>
        <p:nvSpPr>
          <p:cNvPr id="4" name="Shape 2"/>
          <p:cNvSpPr/>
          <p:nvPr/>
        </p:nvSpPr>
        <p:spPr>
          <a:xfrm>
            <a:off x="548640" y="1463040"/>
            <a:ext cx="5349240" cy="4572000"/>
          </a:xfrm>
          <a:prstGeom prst="roundRect">
            <a:avLst>
              <a:gd name="adj" fmla="val 1600"/>
            </a:avLst>
          </a:prstGeom>
          <a:solidFill>
            <a:srgbClr val="082C48"/>
          </a:solidFill>
          <a:ln/>
        </p:spPr>
      </p:sp>
      <p:sp>
        <p:nvSpPr>
          <p:cNvPr id="5" name="Text 3"/>
          <p:cNvSpPr txBox="1"/>
          <p:nvPr/>
        </p:nvSpPr>
        <p:spPr>
          <a:xfrm>
            <a:off x="822960" y="1645920"/>
            <a:ext cx="4846320" cy="274320"/>
          </a:xfrm>
          <a:prstGeom prst="rect">
            <a:avLst/>
          </a:prstGeom>
          <a:noFill/>
          <a:ln/>
        </p:spPr>
        <p:txBody>
          <a:bodyPr wrap="square" lIns="0" tIns="0" rIns="0" bIns="0" rtlCol="0" anchor="ctr"/>
          <a:lstStyle/>
          <a:p>
            <a:pPr indent="0" marL="0">
              <a:buNone/>
            </a:pPr>
            <a:r>
              <a:rPr lang="en-US" sz="1050" b="1" dirty="0">
                <a:solidFill>
                  <a:srgbClr val="F2A93B"/>
                </a:solidFill>
                <a:latin typeface="Calibri" pitchFamily="34" charset="0"/>
                <a:ea typeface="Calibri" pitchFamily="34" charset="-122"/>
                <a:cs typeface="Calibri" pitchFamily="34" charset="-120"/>
              </a:rPr>
              <a:t>SYSTEM PROMPT (excerpt)</a:t>
            </a:r>
            <a:endParaRPr lang="en-US" sz="1050" dirty="0"/>
          </a:p>
        </p:txBody>
      </p:sp>
      <p:sp>
        <p:nvSpPr>
          <p:cNvPr id="6" name="Text 4"/>
          <p:cNvSpPr txBox="1"/>
          <p:nvPr/>
        </p:nvSpPr>
        <p:spPr>
          <a:xfrm>
            <a:off x="822960" y="1965960"/>
            <a:ext cx="4846320" cy="1828800"/>
          </a:xfrm>
          <a:prstGeom prst="rect">
            <a:avLst/>
          </a:prstGeom>
          <a:noFill/>
          <a:ln/>
        </p:spPr>
        <p:txBody>
          <a:bodyPr wrap="square" lIns="0" tIns="0" rIns="0" bIns="0" rtlCol="0" anchor="ctr"/>
          <a:lstStyle/>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You are a municipal flood-risk assistant.</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Given today's rainfall forecast (mm), drainage</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capacity rating (1-5) and elevation profile for a</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ward, output a risk_level of Low, Medium or High</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with a confidence score and one recommended</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action. Never state certainty the data does not</a:t>
            </a:r>
            <a:endParaRPr lang="en-US" sz="1150" dirty="0"/>
          </a:p>
          <a:p>
            <a:pPr indent="0" marL="0">
              <a:lnSpc>
                <a:spcPts val="1600"/>
              </a:lnSpc>
              <a:buNone/>
            </a:pPr>
            <a:r>
              <a:rPr lang="en-US" sz="1150" dirty="0">
                <a:solidFill>
                  <a:srgbClr val="CFE3EF"/>
                </a:solidFill>
                <a:latin typeface="Courier New" pitchFamily="34" charset="0"/>
                <a:ea typeface="Courier New" pitchFamily="34" charset="-122"/>
                <a:cs typeface="Courier New" pitchFamily="34" charset="-120"/>
              </a:rPr>
              <a:t>support; flag missing data instead of guessing.</a:t>
            </a:r>
            <a:endParaRPr lang="en-US" sz="1150" dirty="0"/>
          </a:p>
        </p:txBody>
      </p:sp>
      <p:sp>
        <p:nvSpPr>
          <p:cNvPr id="7" name="Shape 5"/>
          <p:cNvSpPr/>
          <p:nvPr/>
        </p:nvSpPr>
        <p:spPr>
          <a:xfrm>
            <a:off x="822960" y="3886200"/>
            <a:ext cx="4800600" cy="0"/>
          </a:xfrm>
          <a:prstGeom prst="line">
            <a:avLst/>
          </a:prstGeom>
          <a:noFill/>
          <a:ln w="12700">
            <a:solidFill>
              <a:srgbClr val="27547A"/>
            </a:solidFill>
            <a:prstDash val="solid"/>
          </a:ln>
        </p:spPr>
      </p:sp>
      <p:sp>
        <p:nvSpPr>
          <p:cNvPr id="8" name="Text 6"/>
          <p:cNvSpPr txBox="1"/>
          <p:nvPr/>
        </p:nvSpPr>
        <p:spPr>
          <a:xfrm>
            <a:off x="822960" y="4023360"/>
            <a:ext cx="4846320" cy="274320"/>
          </a:xfrm>
          <a:prstGeom prst="rect">
            <a:avLst/>
          </a:prstGeom>
          <a:noFill/>
          <a:ln/>
        </p:spPr>
        <p:txBody>
          <a:bodyPr wrap="square" lIns="0" tIns="0" rIns="0" bIns="0" rtlCol="0" anchor="ctr"/>
          <a:lstStyle/>
          <a:p>
            <a:pPr indent="0" marL="0">
              <a:buNone/>
            </a:pPr>
            <a:r>
              <a:rPr lang="en-US" sz="1050" b="1" dirty="0">
                <a:solidFill>
                  <a:srgbClr val="F2A93B"/>
                </a:solidFill>
                <a:latin typeface="Calibri" pitchFamily="34" charset="0"/>
                <a:ea typeface="Calibri" pitchFamily="34" charset="-122"/>
                <a:cs typeface="Calibri" pitchFamily="34" charset="-120"/>
              </a:rPr>
              <a:t>SAMPLE INPUT</a:t>
            </a:r>
            <a:endParaRPr lang="en-US" sz="1050" dirty="0"/>
          </a:p>
        </p:txBody>
      </p:sp>
      <p:sp>
        <p:nvSpPr>
          <p:cNvPr id="9" name="Text 7"/>
          <p:cNvSpPr txBox="1"/>
          <p:nvPr/>
        </p:nvSpPr>
        <p:spPr>
          <a:xfrm>
            <a:off x="822960" y="4315968"/>
            <a:ext cx="4846320" cy="1463040"/>
          </a:xfrm>
          <a:prstGeom prst="rect">
            <a:avLst/>
          </a:prstGeom>
          <a:noFill/>
          <a:ln/>
        </p:spPr>
        <p:txBody>
          <a:bodyPr wrap="square" lIns="0" tIns="0" rIns="0" bIns="0" rtlCol="0" anchor="ctr"/>
          <a:lstStyle/>
          <a:p>
            <a:pPr indent="0" marL="0">
              <a:lnSpc>
                <a:spcPts val="1500"/>
              </a:lnSpc>
              <a:buNone/>
            </a:pPr>
            <a:r>
              <a:rPr lang="en-US" sz="1150" dirty="0">
                <a:solidFill>
                  <a:srgbClr val="CFE3EF"/>
                </a:solidFill>
                <a:latin typeface="Courier New" pitchFamily="34" charset="0"/>
                <a:ea typeface="Courier New" pitchFamily="34" charset="-122"/>
                <a:cs typeface="Courier New" pitchFamily="34" charset="-120"/>
              </a:rPr>
              <a:t>ward: "Ward 14 – Lakeview Rd"</a:t>
            </a:r>
            <a:endParaRPr lang="en-US" sz="1150" dirty="0"/>
          </a:p>
          <a:p>
            <a:pPr indent="0" marL="0">
              <a:lnSpc>
                <a:spcPts val="1500"/>
              </a:lnSpc>
              <a:buNone/>
            </a:pPr>
            <a:r>
              <a:rPr lang="en-US" sz="1150" dirty="0">
                <a:solidFill>
                  <a:srgbClr val="CFE3EF"/>
                </a:solidFill>
                <a:latin typeface="Courier New" pitchFamily="34" charset="0"/>
                <a:ea typeface="Courier New" pitchFamily="34" charset="-122"/>
                <a:cs typeface="Courier New" pitchFamily="34" charset="-120"/>
              </a:rPr>
              <a:t>forecast_rainfall_mm: 62</a:t>
            </a:r>
            <a:endParaRPr lang="en-US" sz="1150" dirty="0"/>
          </a:p>
          <a:p>
            <a:pPr indent="0" marL="0">
              <a:lnSpc>
                <a:spcPts val="1500"/>
              </a:lnSpc>
              <a:buNone/>
            </a:pPr>
            <a:r>
              <a:rPr lang="en-US" sz="1150" dirty="0">
                <a:solidFill>
                  <a:srgbClr val="CFE3EF"/>
                </a:solidFill>
                <a:latin typeface="Courier New" pitchFamily="34" charset="0"/>
                <a:ea typeface="Courier New" pitchFamily="34" charset="-122"/>
                <a:cs typeface="Courier New" pitchFamily="34" charset="-120"/>
              </a:rPr>
              <a:t>drainage_capacity: 2</a:t>
            </a:r>
            <a:endParaRPr lang="en-US" sz="1150" dirty="0"/>
          </a:p>
          <a:p>
            <a:pPr indent="0" marL="0">
              <a:lnSpc>
                <a:spcPts val="1500"/>
              </a:lnSpc>
              <a:buNone/>
            </a:pPr>
            <a:r>
              <a:rPr lang="en-US" sz="1150" dirty="0">
                <a:solidFill>
                  <a:srgbClr val="CFE3EF"/>
                </a:solidFill>
                <a:latin typeface="Courier New" pitchFamily="34" charset="0"/>
                <a:ea typeface="Courier New" pitchFamily="34" charset="-122"/>
                <a:cs typeface="Courier New" pitchFamily="34" charset="-120"/>
              </a:rPr>
              <a:t>elevation_profile: "low-lying"</a:t>
            </a:r>
            <a:endParaRPr lang="en-US" sz="1150" dirty="0"/>
          </a:p>
        </p:txBody>
      </p:sp>
      <p:sp>
        <p:nvSpPr>
          <p:cNvPr id="10" name="Shape 8"/>
          <p:cNvSpPr/>
          <p:nvPr/>
        </p:nvSpPr>
        <p:spPr>
          <a:xfrm>
            <a:off x="6263640" y="1463040"/>
            <a:ext cx="5349240" cy="4572000"/>
          </a:xfrm>
          <a:prstGeom prst="roundRect">
            <a:avLst>
              <a:gd name="adj" fmla="val 1600"/>
            </a:avLst>
          </a:prstGeom>
          <a:solidFill>
            <a:srgbClr val="EAF3F6"/>
          </a:solidFill>
          <a:ln w="12700">
            <a:solidFill>
              <a:srgbClr val="1C7293"/>
            </a:solidFill>
            <a:prstDash val="solid"/>
          </a:ln>
        </p:spPr>
      </p:sp>
      <p:sp>
        <p:nvSpPr>
          <p:cNvPr id="11" name="Shape 9"/>
          <p:cNvSpPr/>
          <p:nvPr/>
        </p:nvSpPr>
        <p:spPr>
          <a:xfrm>
            <a:off x="6537960" y="1691640"/>
            <a:ext cx="548640" cy="548640"/>
          </a:xfrm>
          <a:prstGeom prst="ellipse">
            <a:avLst/>
          </a:prstGeom>
          <a:solidFill>
            <a:srgbClr val="1C7293"/>
          </a:solidFill>
          <a:ln/>
        </p:spPr>
      </p:sp>
      <p:pic>
        <p:nvPicPr>
          <p:cNvPr id="12" name="Image 0" descr="icons/chart.png">    </p:cNvPr>
          <p:cNvPicPr>
            <a:picLocks noChangeAspect="1"/>
          </p:cNvPicPr>
          <p:nvPr/>
        </p:nvPicPr>
        <p:blipFill>
          <a:blip r:embed="rId1"/>
          <a:stretch>
            <a:fillRect/>
          </a:stretch>
        </p:blipFill>
        <p:spPr>
          <a:xfrm>
            <a:off x="6661404" y="1815084"/>
            <a:ext cx="301752" cy="301752"/>
          </a:xfrm>
          <a:prstGeom prst="rect">
            <a:avLst/>
          </a:prstGeom>
        </p:spPr>
      </p:pic>
      <p:sp>
        <p:nvSpPr>
          <p:cNvPr id="13" name="Text 10"/>
          <p:cNvSpPr txBox="1"/>
          <p:nvPr/>
        </p:nvSpPr>
        <p:spPr>
          <a:xfrm>
            <a:off x="7269480" y="1737360"/>
            <a:ext cx="4114800" cy="457200"/>
          </a:xfrm>
          <a:prstGeom prst="rect">
            <a:avLst/>
          </a:prstGeom>
          <a:noFill/>
          <a:ln/>
        </p:spPr>
        <p:txBody>
          <a:bodyPr wrap="square" lIns="0" tIns="0" rIns="0" bIns="0" rtlCol="0" anchor="ctr"/>
          <a:lstStyle/>
          <a:p>
            <a:pPr indent="0" marL="0">
              <a:buNone/>
            </a:pPr>
            <a:r>
              <a:rPr lang="en-US" sz="1500" b="1" dirty="0">
                <a:solidFill>
                  <a:srgbClr val="0B3D62"/>
                </a:solidFill>
                <a:latin typeface="Cambria" pitchFamily="34" charset="0"/>
                <a:ea typeface="Cambria" pitchFamily="34" charset="-122"/>
                <a:cs typeface="Cambria" pitchFamily="34" charset="-120"/>
              </a:rPr>
              <a:t>Sample Output</a:t>
            </a:r>
            <a:endParaRPr lang="en-US" sz="1500" dirty="0"/>
          </a:p>
        </p:txBody>
      </p:sp>
      <p:sp>
        <p:nvSpPr>
          <p:cNvPr id="14" name="Shape 11"/>
          <p:cNvSpPr/>
          <p:nvPr/>
        </p:nvSpPr>
        <p:spPr>
          <a:xfrm>
            <a:off x="6537960" y="2377440"/>
            <a:ext cx="4800600" cy="1371600"/>
          </a:xfrm>
          <a:prstGeom prst="roundRect">
            <a:avLst>
              <a:gd name="adj" fmla="val 4667"/>
            </a:avLst>
          </a:prstGeom>
          <a:solidFill>
            <a:srgbClr val="FFFFFF"/>
          </a:solidFill>
          <a:ln w="12700">
            <a:solidFill>
              <a:srgbClr val="DCE6EA"/>
            </a:solidFill>
            <a:prstDash val="solid"/>
          </a:ln>
        </p:spPr>
      </p:sp>
      <p:sp>
        <p:nvSpPr>
          <p:cNvPr id="15" name="Text 12"/>
          <p:cNvSpPr txBox="1"/>
          <p:nvPr/>
        </p:nvSpPr>
        <p:spPr>
          <a:xfrm>
            <a:off x="6720840" y="2514600"/>
            <a:ext cx="4480560" cy="1143000"/>
          </a:xfrm>
          <a:prstGeom prst="rect">
            <a:avLst/>
          </a:prstGeom>
          <a:noFill/>
          <a:ln/>
        </p:spPr>
        <p:txBody>
          <a:bodyPr wrap="square" lIns="0" tIns="0" rIns="0" bIns="0" rtlCol="0" anchor="ctr"/>
          <a:lstStyle/>
          <a:p>
            <a:pPr indent="0" marL="0">
              <a:lnSpc>
                <a:spcPts val="1600"/>
              </a:lnSpc>
              <a:buNone/>
            </a:pPr>
            <a:r>
              <a:rPr lang="en-US" sz="1150" dirty="0">
                <a:solidFill>
                  <a:srgbClr val="5B6B77"/>
                </a:solidFill>
                <a:latin typeface="Courier New" pitchFamily="34" charset="0"/>
                <a:ea typeface="Courier New" pitchFamily="34" charset="-122"/>
                <a:cs typeface="Courier New" pitchFamily="34" charset="-120"/>
              </a:rPr>
              <a:t>risk_level: </a:t>
            </a:r>
            <a:pPr indent="0" marL="0">
              <a:lnSpc>
                <a:spcPts val="1600"/>
              </a:lnSpc>
              <a:buNone/>
            </a:pPr>
            <a:r>
              <a:rPr lang="en-US" sz="1150" b="1" dirty="0">
                <a:solidFill>
                  <a:srgbClr val="C0453A"/>
                </a:solidFill>
                <a:latin typeface="Courier New" pitchFamily="34" charset="0"/>
                <a:ea typeface="Courier New" pitchFamily="34" charset="-122"/>
                <a:cs typeface="Courier New" pitchFamily="34" charset="-120"/>
              </a:rPr>
              <a:t>High
</a:t>
            </a:r>
            <a:pPr indent="0" marL="0">
              <a:lnSpc>
                <a:spcPts val="1600"/>
              </a:lnSpc>
              <a:buNone/>
            </a:pPr>
            <a:r>
              <a:rPr lang="en-US" sz="1150" dirty="0">
                <a:solidFill>
                  <a:srgbClr val="5B6B77"/>
                </a:solidFill>
                <a:latin typeface="Courier New" pitchFamily="34" charset="0"/>
                <a:ea typeface="Courier New" pitchFamily="34" charset="-122"/>
                <a:cs typeface="Courier New" pitchFamily="34" charset="-120"/>
              </a:rPr>
              <a:t>confidence: </a:t>
            </a:r>
            <a:pPr indent="0" marL="0">
              <a:lnSpc>
                <a:spcPts val="1600"/>
              </a:lnSpc>
              <a:buNone/>
            </a:pPr>
            <a:r>
              <a:rPr lang="en-US" sz="1150" b="1" dirty="0">
                <a:solidFill>
                  <a:srgbClr val="0B3D62"/>
                </a:solidFill>
                <a:latin typeface="Courier New" pitchFamily="34" charset="0"/>
                <a:ea typeface="Courier New" pitchFamily="34" charset="-122"/>
                <a:cs typeface="Courier New" pitchFamily="34" charset="-120"/>
              </a:rPr>
              <a:t>0.82
</a:t>
            </a:r>
            <a:pPr indent="0" marL="0">
              <a:lnSpc>
                <a:spcPts val="1600"/>
              </a:lnSpc>
              <a:buNone/>
            </a:pPr>
            <a:r>
              <a:rPr lang="en-US" sz="1150" dirty="0">
                <a:solidFill>
                  <a:srgbClr val="5B6B77"/>
                </a:solidFill>
                <a:latin typeface="Courier New" pitchFamily="34" charset="0"/>
                <a:ea typeface="Courier New" pitchFamily="34" charset="-122"/>
                <a:cs typeface="Courier New" pitchFamily="34" charset="-120"/>
              </a:rPr>
              <a:t>recommended_action: </a:t>
            </a:r>
            <a:pPr indent="0" marL="0">
              <a:lnSpc>
                <a:spcPts val="1600"/>
              </a:lnSpc>
              <a:buNone/>
            </a:pPr>
            <a:r>
              <a:rPr lang="en-US" sz="1150" dirty="0">
                <a:solidFill>
                  <a:srgbClr val="1B2A38"/>
                </a:solidFill>
                <a:latin typeface="Courier New" pitchFamily="34" charset="0"/>
                <a:ea typeface="Courier New" pitchFamily="34" charset="-122"/>
                <a:cs typeface="Courier New" pitchFamily="34" charset="-120"/>
              </a:rPr>
              <a:t>"Alert Ward 14 residents; pre-position pump at Lakeview Rd junction"</a:t>
            </a:r>
            <a:endParaRPr lang="en-US" sz="1150" dirty="0"/>
          </a:p>
        </p:txBody>
      </p:sp>
      <p:sp>
        <p:nvSpPr>
          <p:cNvPr id="16" name="Text 13"/>
          <p:cNvSpPr txBox="1"/>
          <p:nvPr/>
        </p:nvSpPr>
        <p:spPr>
          <a:xfrm>
            <a:off x="6537960" y="3931920"/>
            <a:ext cx="4114800" cy="320040"/>
          </a:xfrm>
          <a:prstGeom prst="rect">
            <a:avLst/>
          </a:prstGeom>
          <a:noFill/>
          <a:ln/>
        </p:spPr>
        <p:txBody>
          <a:bodyPr wrap="square" lIns="0" tIns="0" rIns="0" bIns="0" rtlCol="0" anchor="ctr"/>
          <a:lstStyle/>
          <a:p>
            <a:pPr indent="0" marL="0">
              <a:buNone/>
            </a:pPr>
            <a:r>
              <a:rPr lang="en-US" sz="1250" b="1" dirty="0">
                <a:solidFill>
                  <a:srgbClr val="0B3D62"/>
                </a:solidFill>
                <a:latin typeface="Calibri" pitchFamily="34" charset="0"/>
                <a:ea typeface="Calibri" pitchFamily="34" charset="-122"/>
                <a:cs typeface="Calibri" pitchFamily="34" charset="-120"/>
              </a:rPr>
              <a:t>How this becomes an alert</a:t>
            </a:r>
            <a:endParaRPr lang="en-US" sz="1250" dirty="0"/>
          </a:p>
        </p:txBody>
      </p:sp>
      <p:sp>
        <p:nvSpPr>
          <p:cNvPr id="17" name="Shape 14"/>
          <p:cNvSpPr/>
          <p:nvPr/>
        </p:nvSpPr>
        <p:spPr>
          <a:xfrm>
            <a:off x="6537960" y="4343400"/>
            <a:ext cx="118872" cy="118872"/>
          </a:xfrm>
          <a:prstGeom prst="ellipse">
            <a:avLst/>
          </a:prstGeom>
          <a:solidFill>
            <a:srgbClr val="1C7293"/>
          </a:solidFill>
          <a:ln/>
        </p:spPr>
      </p:sp>
      <p:sp>
        <p:nvSpPr>
          <p:cNvPr id="18" name="Text 15"/>
          <p:cNvSpPr txBox="1"/>
          <p:nvPr/>
        </p:nvSpPr>
        <p:spPr>
          <a:xfrm>
            <a:off x="6784848" y="4261104"/>
            <a:ext cx="4206240" cy="41148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High-risk wards push a notification to residents &amp; the ward officer</a:t>
            </a:r>
            <a:endParaRPr lang="en-US" sz="1100" dirty="0"/>
          </a:p>
        </p:txBody>
      </p:sp>
      <p:sp>
        <p:nvSpPr>
          <p:cNvPr id="19" name="Shape 16"/>
          <p:cNvSpPr/>
          <p:nvPr/>
        </p:nvSpPr>
        <p:spPr>
          <a:xfrm>
            <a:off x="6537960" y="4800600"/>
            <a:ext cx="118872" cy="118872"/>
          </a:xfrm>
          <a:prstGeom prst="ellipse">
            <a:avLst/>
          </a:prstGeom>
          <a:solidFill>
            <a:srgbClr val="1C7293"/>
          </a:solidFill>
          <a:ln/>
        </p:spPr>
      </p:sp>
      <p:sp>
        <p:nvSpPr>
          <p:cNvPr id="20" name="Text 17"/>
          <p:cNvSpPr txBox="1"/>
          <p:nvPr/>
        </p:nvSpPr>
        <p:spPr>
          <a:xfrm>
            <a:off x="6784848" y="4718304"/>
            <a:ext cx="4206240" cy="41148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Medium risk is logged and monitored, not pushed</a:t>
            </a:r>
            <a:endParaRPr lang="en-US" sz="1100" dirty="0"/>
          </a:p>
        </p:txBody>
      </p:sp>
      <p:sp>
        <p:nvSpPr>
          <p:cNvPr id="21" name="Shape 18"/>
          <p:cNvSpPr/>
          <p:nvPr/>
        </p:nvSpPr>
        <p:spPr>
          <a:xfrm>
            <a:off x="6537960" y="5257800"/>
            <a:ext cx="118872" cy="118872"/>
          </a:xfrm>
          <a:prstGeom prst="ellipse">
            <a:avLst/>
          </a:prstGeom>
          <a:solidFill>
            <a:srgbClr val="1C7293"/>
          </a:solidFill>
          <a:ln/>
        </p:spPr>
      </p:sp>
      <p:sp>
        <p:nvSpPr>
          <p:cNvPr id="22" name="Text 19"/>
          <p:cNvSpPr txBox="1"/>
          <p:nvPr/>
        </p:nvSpPr>
        <p:spPr>
          <a:xfrm>
            <a:off x="6784848" y="5175504"/>
            <a:ext cx="4206240" cy="411480"/>
          </a:xfrm>
          <a:prstGeom prst="rect">
            <a:avLst/>
          </a:prstGeom>
          <a:noFill/>
          <a:ln/>
        </p:spPr>
        <p:txBody>
          <a:bodyPr wrap="square" lIns="0" tIns="0" rIns="0" bIns="0" rtlCol="0" anchor="ctr"/>
          <a:lstStyle/>
          <a:p>
            <a:pPr indent="0" marL="0">
              <a:buNone/>
            </a:pPr>
            <a:r>
              <a:rPr lang="en-US" sz="1100" dirty="0">
                <a:solidFill>
                  <a:srgbClr val="1B2A38"/>
                </a:solidFill>
                <a:latin typeface="Calibri" pitchFamily="34" charset="0"/>
                <a:ea typeface="Calibri" pitchFamily="34" charset="-122"/>
                <a:cs typeface="Calibri" pitchFamily="34" charset="-120"/>
              </a:rPr>
              <a:t>Every output is stored with its confidence for later audit</a:t>
            </a:r>
            <a:endParaRPr lang="en-US" sz="1100" dirty="0"/>
          </a:p>
        </p:txBody>
      </p:sp>
      <p:sp>
        <p:nvSpPr>
          <p:cNvPr id="23" name="Text 20"/>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4" name="Text 21"/>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PROTOTYPE · RAG + AGENT DEMO</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Module 2 — Citizen Grievance Conversation</a:t>
            </a:r>
            <a:endParaRPr lang="en-US" sz="3000" dirty="0"/>
          </a:p>
        </p:txBody>
      </p:sp>
      <p:sp>
        <p:nvSpPr>
          <p:cNvPr id="4" name="Shape 2"/>
          <p:cNvSpPr/>
          <p:nvPr/>
        </p:nvSpPr>
        <p:spPr>
          <a:xfrm>
            <a:off x="548640" y="1463040"/>
            <a:ext cx="6309360" cy="4572000"/>
          </a:xfrm>
          <a:prstGeom prst="roundRect">
            <a:avLst>
              <a:gd name="adj" fmla="val 2000"/>
            </a:avLst>
          </a:prstGeom>
          <a:solidFill>
            <a:srgbClr val="F5F9FA"/>
          </a:solidFill>
          <a:ln w="12700">
            <a:solidFill>
              <a:srgbClr val="DCE6EA"/>
            </a:solidFill>
            <a:prstDash val="solid"/>
          </a:ln>
        </p:spPr>
      </p:sp>
      <p:sp>
        <p:nvSpPr>
          <p:cNvPr id="5" name="Shape 3"/>
          <p:cNvSpPr/>
          <p:nvPr/>
        </p:nvSpPr>
        <p:spPr>
          <a:xfrm>
            <a:off x="822960" y="1691640"/>
            <a:ext cx="502920" cy="502920"/>
          </a:xfrm>
          <a:prstGeom prst="ellipse">
            <a:avLst/>
          </a:prstGeom>
          <a:solidFill>
            <a:srgbClr val="1C7293"/>
          </a:solidFill>
          <a:ln/>
        </p:spPr>
      </p:sp>
      <p:pic>
        <p:nvPicPr>
          <p:cNvPr id="6" name="Image 0" descr="icons/comments.png">    </p:cNvPr>
          <p:cNvPicPr>
            <a:picLocks noChangeAspect="1"/>
          </p:cNvPicPr>
          <p:nvPr/>
        </p:nvPicPr>
        <p:blipFill>
          <a:blip r:embed="rId1"/>
          <a:stretch>
            <a:fillRect/>
          </a:stretch>
        </p:blipFill>
        <p:spPr>
          <a:xfrm>
            <a:off x="936117" y="1804797"/>
            <a:ext cx="276606" cy="276606"/>
          </a:xfrm>
          <a:prstGeom prst="rect">
            <a:avLst/>
          </a:prstGeom>
        </p:spPr>
      </p:pic>
      <p:sp>
        <p:nvSpPr>
          <p:cNvPr id="7" name="Text 4"/>
          <p:cNvSpPr txBox="1"/>
          <p:nvPr/>
        </p:nvSpPr>
        <p:spPr>
          <a:xfrm>
            <a:off x="1463040" y="1737360"/>
            <a:ext cx="2743200" cy="41148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Sample Chat</a:t>
            </a:r>
            <a:endParaRPr lang="en-US" sz="1400" dirty="0"/>
          </a:p>
        </p:txBody>
      </p:sp>
      <p:sp>
        <p:nvSpPr>
          <p:cNvPr id="8" name="Shape 5"/>
          <p:cNvSpPr/>
          <p:nvPr/>
        </p:nvSpPr>
        <p:spPr>
          <a:xfrm>
            <a:off x="822960" y="2286000"/>
            <a:ext cx="5120640" cy="822960"/>
          </a:xfrm>
          <a:prstGeom prst="roundRect">
            <a:avLst>
              <a:gd name="adj" fmla="val 10000"/>
            </a:avLst>
          </a:prstGeom>
          <a:solidFill>
            <a:srgbClr val="FFFFFF"/>
          </a:solidFill>
          <a:ln w="12700">
            <a:solidFill>
              <a:srgbClr val="DCE6EA"/>
            </a:solidFill>
            <a:prstDash val="solid"/>
          </a:ln>
        </p:spPr>
      </p:sp>
      <p:sp>
        <p:nvSpPr>
          <p:cNvPr id="9" name="Text 6"/>
          <p:cNvSpPr txBox="1"/>
          <p:nvPr/>
        </p:nvSpPr>
        <p:spPr>
          <a:xfrm>
            <a:off x="987552" y="2359152"/>
            <a:ext cx="4791456" cy="685800"/>
          </a:xfrm>
          <a:prstGeom prst="rect">
            <a:avLst/>
          </a:prstGeom>
          <a:noFill/>
          <a:ln/>
        </p:spPr>
        <p:txBody>
          <a:bodyPr wrap="square" lIns="0" tIns="0" rIns="0" bIns="0" rtlCol="0" anchor="t"/>
          <a:lstStyle/>
          <a:p>
            <a:pPr indent="0" marL="0">
              <a:lnSpc>
                <a:spcPts val="1400"/>
              </a:lnSpc>
              <a:buNone/>
            </a:pPr>
            <a:r>
              <a:rPr lang="en-US" sz="950" b="1" dirty="0">
                <a:solidFill>
                  <a:srgbClr val="5B6B77"/>
                </a:solidFill>
                <a:latin typeface="Calibri" pitchFamily="34" charset="0"/>
                <a:ea typeface="Calibri" pitchFamily="34" charset="-122"/>
                <a:cs typeface="Calibri" pitchFamily="34" charset="-120"/>
              </a:rPr>
              <a:t>Citizen
</a:t>
            </a:r>
            <a:pPr indent="0" marL="0">
              <a:lnSpc>
                <a:spcPts val="1400"/>
              </a:lnSpc>
              <a:buNone/>
            </a:pPr>
            <a:r>
              <a:rPr lang="en-US" sz="1100" dirty="0">
                <a:solidFill>
                  <a:srgbClr val="1B2A38"/>
                </a:solidFill>
                <a:latin typeface="Calibri" pitchFamily="34" charset="0"/>
                <a:ea typeface="Calibri" pitchFamily="34" charset="-122"/>
                <a:cs typeface="Calibri" pitchFamily="34" charset="-120"/>
              </a:rPr>
              <a:t>Heavy waterlogging near Lakeview Rd market since this morning, water entering two shops.</a:t>
            </a:r>
            <a:endParaRPr lang="en-US" sz="950" dirty="0"/>
          </a:p>
        </p:txBody>
      </p:sp>
      <p:sp>
        <p:nvSpPr>
          <p:cNvPr id="10" name="Shape 7"/>
          <p:cNvSpPr/>
          <p:nvPr/>
        </p:nvSpPr>
        <p:spPr>
          <a:xfrm>
            <a:off x="1097280" y="3246120"/>
            <a:ext cx="5120640" cy="822960"/>
          </a:xfrm>
          <a:prstGeom prst="roundRect">
            <a:avLst>
              <a:gd name="adj" fmla="val 10000"/>
            </a:avLst>
          </a:prstGeom>
          <a:solidFill>
            <a:srgbClr val="1C7293"/>
          </a:solidFill>
          <a:ln/>
        </p:spPr>
      </p:sp>
      <p:sp>
        <p:nvSpPr>
          <p:cNvPr id="11" name="Text 8"/>
          <p:cNvSpPr txBox="1"/>
          <p:nvPr/>
        </p:nvSpPr>
        <p:spPr>
          <a:xfrm>
            <a:off x="1261872" y="3319272"/>
            <a:ext cx="4791456" cy="685800"/>
          </a:xfrm>
          <a:prstGeom prst="rect">
            <a:avLst/>
          </a:prstGeom>
          <a:noFill/>
          <a:ln/>
        </p:spPr>
        <p:txBody>
          <a:bodyPr wrap="square" lIns="0" tIns="0" rIns="0" bIns="0" rtlCol="0" anchor="t"/>
          <a:lstStyle/>
          <a:p>
            <a:pPr indent="0" marL="0">
              <a:lnSpc>
                <a:spcPts val="1400"/>
              </a:lnSpc>
              <a:buNone/>
            </a:pPr>
            <a:r>
              <a:rPr lang="en-US" sz="950" b="1" dirty="0">
                <a:solidFill>
                  <a:srgbClr val="E5F2EE"/>
                </a:solidFill>
                <a:latin typeface="Calibri" pitchFamily="34" charset="0"/>
                <a:ea typeface="Calibri" pitchFamily="34" charset="-122"/>
                <a:cs typeface="Calibri" pitchFamily="34" charset="-120"/>
              </a:rPr>
              <a:t>UrbanGuard AI
</a:t>
            </a:r>
            <a:pPr indent="0" marL="0">
              <a:lnSpc>
                <a:spcPts val="1400"/>
              </a:lnSpc>
              <a:buNone/>
            </a:pPr>
            <a:r>
              <a:rPr lang="en-US" sz="1100" dirty="0">
                <a:solidFill>
                  <a:srgbClr val="FFFFFF"/>
                </a:solidFill>
                <a:latin typeface="Calibri" pitchFamily="34" charset="0"/>
                <a:ea typeface="Calibri" pitchFamily="34" charset="-122"/>
                <a:cs typeface="Calibri" pitchFamily="34" charset="-120"/>
              </a:rPr>
              <a:t>Got it. Logging this at Ward 14 – Lakeview Rd market. Marking severity: HIGH (matches today's flood-risk alert for this ward).</a:t>
            </a:r>
            <a:endParaRPr lang="en-US" sz="950" dirty="0"/>
          </a:p>
        </p:txBody>
      </p:sp>
      <p:sp>
        <p:nvSpPr>
          <p:cNvPr id="12" name="Shape 9"/>
          <p:cNvSpPr/>
          <p:nvPr/>
        </p:nvSpPr>
        <p:spPr>
          <a:xfrm>
            <a:off x="1097280" y="4206240"/>
            <a:ext cx="5120640" cy="822960"/>
          </a:xfrm>
          <a:prstGeom prst="roundRect">
            <a:avLst>
              <a:gd name="adj" fmla="val 10000"/>
            </a:avLst>
          </a:prstGeom>
          <a:solidFill>
            <a:srgbClr val="1C7293"/>
          </a:solidFill>
          <a:ln/>
        </p:spPr>
      </p:sp>
      <p:sp>
        <p:nvSpPr>
          <p:cNvPr id="13" name="Text 10"/>
          <p:cNvSpPr txBox="1"/>
          <p:nvPr/>
        </p:nvSpPr>
        <p:spPr>
          <a:xfrm>
            <a:off x="1261872" y="4279392"/>
            <a:ext cx="4791456" cy="685800"/>
          </a:xfrm>
          <a:prstGeom prst="rect">
            <a:avLst/>
          </a:prstGeom>
          <a:noFill/>
          <a:ln/>
        </p:spPr>
        <p:txBody>
          <a:bodyPr wrap="square" lIns="0" tIns="0" rIns="0" bIns="0" rtlCol="0" anchor="t"/>
          <a:lstStyle/>
          <a:p>
            <a:pPr indent="0" marL="0">
              <a:lnSpc>
                <a:spcPts val="1400"/>
              </a:lnSpc>
              <a:buNone/>
            </a:pPr>
            <a:r>
              <a:rPr lang="en-US" sz="950" b="1" dirty="0">
                <a:solidFill>
                  <a:srgbClr val="E5F2EE"/>
                </a:solidFill>
                <a:latin typeface="Calibri" pitchFamily="34" charset="0"/>
                <a:ea typeface="Calibri" pitchFamily="34" charset="-122"/>
                <a:cs typeface="Calibri" pitchFamily="34" charset="-120"/>
              </a:rPr>
              <a:t>UrbanGuard AI
</a:t>
            </a:r>
            <a:pPr indent="0" marL="0">
              <a:lnSpc>
                <a:spcPts val="1400"/>
              </a:lnSpc>
              <a:buNone/>
            </a:pPr>
            <a:r>
              <a:rPr lang="en-US" sz="1100" dirty="0">
                <a:solidFill>
                  <a:srgbClr val="FFFFFF"/>
                </a:solidFill>
                <a:latin typeface="Calibri" pitchFamily="34" charset="0"/>
                <a:ea typeface="Calibri" pitchFamily="34" charset="-122"/>
                <a:cs typeface="Calibri" pitchFamily="34" charset="-120"/>
              </a:rPr>
              <a:t>Ticket #UG-4471 routed to Drainage Dept, Ward 14. Per SOP DR-07, a pump crew is dispatched within 2 hours for High-severity market-area flooding.</a:t>
            </a:r>
            <a:endParaRPr lang="en-US" sz="950" dirty="0"/>
          </a:p>
        </p:txBody>
      </p:sp>
      <p:sp>
        <p:nvSpPr>
          <p:cNvPr id="14" name="Shape 11"/>
          <p:cNvSpPr/>
          <p:nvPr/>
        </p:nvSpPr>
        <p:spPr>
          <a:xfrm>
            <a:off x="822960" y="5257800"/>
            <a:ext cx="5120640" cy="822960"/>
          </a:xfrm>
          <a:prstGeom prst="roundRect">
            <a:avLst>
              <a:gd name="adj" fmla="val 10000"/>
            </a:avLst>
          </a:prstGeom>
          <a:solidFill>
            <a:srgbClr val="FFFFFF"/>
          </a:solidFill>
          <a:ln w="12700">
            <a:solidFill>
              <a:srgbClr val="DCE6EA"/>
            </a:solidFill>
            <a:prstDash val="solid"/>
          </a:ln>
        </p:spPr>
      </p:sp>
      <p:sp>
        <p:nvSpPr>
          <p:cNvPr id="15" name="Text 12"/>
          <p:cNvSpPr txBox="1"/>
          <p:nvPr/>
        </p:nvSpPr>
        <p:spPr>
          <a:xfrm>
            <a:off x="987552" y="5330952"/>
            <a:ext cx="4791456" cy="685800"/>
          </a:xfrm>
          <a:prstGeom prst="rect">
            <a:avLst/>
          </a:prstGeom>
          <a:noFill/>
          <a:ln/>
        </p:spPr>
        <p:txBody>
          <a:bodyPr wrap="square" lIns="0" tIns="0" rIns="0" bIns="0" rtlCol="0" anchor="t"/>
          <a:lstStyle/>
          <a:p>
            <a:pPr indent="0" marL="0">
              <a:lnSpc>
                <a:spcPts val="1400"/>
              </a:lnSpc>
              <a:buNone/>
            </a:pPr>
            <a:r>
              <a:rPr lang="en-US" sz="950" b="1" dirty="0">
                <a:solidFill>
                  <a:srgbClr val="5B6B77"/>
                </a:solidFill>
                <a:latin typeface="Calibri" pitchFamily="34" charset="0"/>
                <a:ea typeface="Calibri" pitchFamily="34" charset="-122"/>
                <a:cs typeface="Calibri" pitchFamily="34" charset="-120"/>
              </a:rPr>
              <a:t>Citizen
</a:t>
            </a:r>
            <a:pPr indent="0" marL="0">
              <a:lnSpc>
                <a:spcPts val="1400"/>
              </a:lnSpc>
              <a:buNone/>
            </a:pPr>
            <a:r>
              <a:rPr lang="en-US" sz="1100" dirty="0">
                <a:solidFill>
                  <a:srgbClr val="1B2A38"/>
                </a:solidFill>
                <a:latin typeface="Calibri" pitchFamily="34" charset="0"/>
                <a:ea typeface="Calibri" pitchFamily="34" charset="-122"/>
                <a:cs typeface="Calibri" pitchFamily="34" charset="-120"/>
              </a:rPr>
              <a:t>Thank you, how do I track it?</a:t>
            </a:r>
            <a:endParaRPr lang="en-US" sz="950" dirty="0"/>
          </a:p>
        </p:txBody>
      </p:sp>
      <p:sp>
        <p:nvSpPr>
          <p:cNvPr id="16" name="Shape 13"/>
          <p:cNvSpPr/>
          <p:nvPr/>
        </p:nvSpPr>
        <p:spPr>
          <a:xfrm>
            <a:off x="7086600" y="1463040"/>
            <a:ext cx="4526280" cy="4572000"/>
          </a:xfrm>
          <a:prstGeom prst="roundRect">
            <a:avLst>
              <a:gd name="adj" fmla="val 2020"/>
            </a:avLst>
          </a:prstGeom>
          <a:solidFill>
            <a:srgbClr val="0B3D62"/>
          </a:solidFill>
          <a:ln/>
        </p:spPr>
      </p:sp>
      <p:sp>
        <p:nvSpPr>
          <p:cNvPr id="17" name="Shape 14"/>
          <p:cNvSpPr/>
          <p:nvPr/>
        </p:nvSpPr>
        <p:spPr>
          <a:xfrm>
            <a:off x="7360920" y="1691640"/>
            <a:ext cx="502920" cy="502920"/>
          </a:xfrm>
          <a:prstGeom prst="ellipse">
            <a:avLst/>
          </a:prstGeom>
          <a:solidFill>
            <a:srgbClr val="C97F12"/>
          </a:solidFill>
          <a:ln/>
        </p:spPr>
      </p:sp>
      <p:pic>
        <p:nvPicPr>
          <p:cNvPr id="18" name="Image 1" descr="icons/sitemap.png">    </p:cNvPr>
          <p:cNvPicPr>
            <a:picLocks noChangeAspect="1"/>
          </p:cNvPicPr>
          <p:nvPr/>
        </p:nvPicPr>
        <p:blipFill>
          <a:blip r:embed="rId2"/>
          <a:stretch>
            <a:fillRect/>
          </a:stretch>
        </p:blipFill>
        <p:spPr>
          <a:xfrm>
            <a:off x="7474077" y="1804797"/>
            <a:ext cx="276606" cy="276606"/>
          </a:xfrm>
          <a:prstGeom prst="rect">
            <a:avLst/>
          </a:prstGeom>
        </p:spPr>
      </p:pic>
      <p:sp>
        <p:nvSpPr>
          <p:cNvPr id="19" name="Text 15"/>
          <p:cNvSpPr txBox="1"/>
          <p:nvPr/>
        </p:nvSpPr>
        <p:spPr>
          <a:xfrm>
            <a:off x="8001000" y="1737360"/>
            <a:ext cx="3474720" cy="41148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Agent Logic Behind the Reply</a:t>
            </a:r>
            <a:endParaRPr lang="en-US" sz="1350" dirty="0"/>
          </a:p>
        </p:txBody>
      </p:sp>
      <p:sp>
        <p:nvSpPr>
          <p:cNvPr id="20" name="Text 16"/>
          <p:cNvSpPr txBox="1"/>
          <p:nvPr/>
        </p:nvSpPr>
        <p:spPr>
          <a:xfrm>
            <a:off x="7360920" y="2212848"/>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1. Extract</a:t>
            </a:r>
            <a:endParaRPr lang="en-US" sz="1100" dirty="0"/>
          </a:p>
        </p:txBody>
      </p:sp>
      <p:sp>
        <p:nvSpPr>
          <p:cNvPr id="21" name="Text 17"/>
          <p:cNvSpPr txBox="1"/>
          <p:nvPr/>
        </p:nvSpPr>
        <p:spPr>
          <a:xfrm>
            <a:off x="7360920" y="2450592"/>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location = Lakeview Rd market → Ward 14; issue_type = waterlogging</a:t>
            </a:r>
            <a:endParaRPr lang="en-US" sz="980" dirty="0"/>
          </a:p>
        </p:txBody>
      </p:sp>
      <p:sp>
        <p:nvSpPr>
          <p:cNvPr id="22" name="Text 18"/>
          <p:cNvSpPr txBox="1"/>
          <p:nvPr/>
        </p:nvSpPr>
        <p:spPr>
          <a:xfrm>
            <a:off x="7360920" y="2820924"/>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2. Cross-check</a:t>
            </a:r>
            <a:endParaRPr lang="en-US" sz="1100" dirty="0"/>
          </a:p>
        </p:txBody>
      </p:sp>
      <p:sp>
        <p:nvSpPr>
          <p:cNvPr id="23" name="Text 19"/>
          <p:cNvSpPr txBox="1"/>
          <p:nvPr/>
        </p:nvSpPr>
        <p:spPr>
          <a:xfrm>
            <a:off x="7360920" y="3058668"/>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compare with today's Module 1 risk output for Ward 14 = High</a:t>
            </a:r>
            <a:endParaRPr lang="en-US" sz="980" dirty="0"/>
          </a:p>
        </p:txBody>
      </p:sp>
      <p:sp>
        <p:nvSpPr>
          <p:cNvPr id="24" name="Text 20"/>
          <p:cNvSpPr txBox="1"/>
          <p:nvPr/>
        </p:nvSpPr>
        <p:spPr>
          <a:xfrm>
            <a:off x="7360920" y="3429000"/>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3. Retrieve (RAG)</a:t>
            </a:r>
            <a:endParaRPr lang="en-US" sz="1100" dirty="0"/>
          </a:p>
        </p:txBody>
      </p:sp>
      <p:sp>
        <p:nvSpPr>
          <p:cNvPr id="25" name="Text 21"/>
          <p:cNvSpPr txBox="1"/>
          <p:nvPr/>
        </p:nvSpPr>
        <p:spPr>
          <a:xfrm>
            <a:off x="7360920" y="3666744"/>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fetch SOP DR-07 from municipal drainage policy knowledge base</a:t>
            </a:r>
            <a:endParaRPr lang="en-US" sz="980" dirty="0"/>
          </a:p>
        </p:txBody>
      </p:sp>
      <p:sp>
        <p:nvSpPr>
          <p:cNvPr id="26" name="Text 22"/>
          <p:cNvSpPr txBox="1"/>
          <p:nvPr/>
        </p:nvSpPr>
        <p:spPr>
          <a:xfrm>
            <a:off x="7360920" y="4037076"/>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4. Classify</a:t>
            </a:r>
            <a:endParaRPr lang="en-US" sz="1100" dirty="0"/>
          </a:p>
        </p:txBody>
      </p:sp>
      <p:sp>
        <p:nvSpPr>
          <p:cNvPr id="27" name="Text 23"/>
          <p:cNvSpPr txBox="1"/>
          <p:nvPr/>
        </p:nvSpPr>
        <p:spPr>
          <a:xfrm>
            <a:off x="7360920" y="4274820"/>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severity = High (rule: market area + active high-risk ward)</a:t>
            </a:r>
            <a:endParaRPr lang="en-US" sz="980" dirty="0"/>
          </a:p>
        </p:txBody>
      </p:sp>
      <p:sp>
        <p:nvSpPr>
          <p:cNvPr id="28" name="Text 24"/>
          <p:cNvSpPr txBox="1"/>
          <p:nvPr/>
        </p:nvSpPr>
        <p:spPr>
          <a:xfrm>
            <a:off x="7360920" y="4645152"/>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5. Route</a:t>
            </a:r>
            <a:endParaRPr lang="en-US" sz="1100" dirty="0"/>
          </a:p>
        </p:txBody>
      </p:sp>
      <p:sp>
        <p:nvSpPr>
          <p:cNvPr id="29" name="Text 25"/>
          <p:cNvSpPr txBox="1"/>
          <p:nvPr/>
        </p:nvSpPr>
        <p:spPr>
          <a:xfrm>
            <a:off x="7360920" y="4882896"/>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create ticket, assign Drainage Dept, notify ward officer</a:t>
            </a:r>
            <a:endParaRPr lang="en-US" sz="980" dirty="0"/>
          </a:p>
        </p:txBody>
      </p:sp>
      <p:sp>
        <p:nvSpPr>
          <p:cNvPr id="30" name="Text 26"/>
          <p:cNvSpPr txBox="1"/>
          <p:nvPr/>
        </p:nvSpPr>
        <p:spPr>
          <a:xfrm>
            <a:off x="7360920" y="5253228"/>
            <a:ext cx="4114800" cy="256032"/>
          </a:xfrm>
          <a:prstGeom prst="rect">
            <a:avLst/>
          </a:prstGeom>
          <a:noFill/>
          <a:ln/>
        </p:spPr>
        <p:txBody>
          <a:bodyPr wrap="square" lIns="0" tIns="0" rIns="0" bIns="0" rtlCol="0" anchor="ctr"/>
          <a:lstStyle/>
          <a:p>
            <a:pPr indent="0" marL="0">
              <a:buNone/>
            </a:pPr>
            <a:r>
              <a:rPr lang="en-US" sz="1100" b="1" dirty="0">
                <a:solidFill>
                  <a:srgbClr val="F2A93B"/>
                </a:solidFill>
                <a:latin typeface="Calibri" pitchFamily="34" charset="0"/>
                <a:ea typeface="Calibri" pitchFamily="34" charset="-122"/>
                <a:cs typeface="Calibri" pitchFamily="34" charset="-120"/>
              </a:rPr>
              <a:t>6. Respond</a:t>
            </a:r>
            <a:endParaRPr lang="en-US" sz="1100" dirty="0"/>
          </a:p>
        </p:txBody>
      </p:sp>
      <p:sp>
        <p:nvSpPr>
          <p:cNvPr id="31" name="Text 27"/>
          <p:cNvSpPr txBox="1"/>
          <p:nvPr/>
        </p:nvSpPr>
        <p:spPr>
          <a:xfrm>
            <a:off x="7360920" y="5490972"/>
            <a:ext cx="4160520" cy="365760"/>
          </a:xfrm>
          <a:prstGeom prst="rect">
            <a:avLst/>
          </a:prstGeom>
          <a:noFill/>
          <a:ln/>
        </p:spPr>
        <p:txBody>
          <a:bodyPr wrap="square" lIns="0" tIns="0" rIns="0" bIns="0" rtlCol="0" anchor="ctr"/>
          <a:lstStyle/>
          <a:p>
            <a:pPr indent="0" marL="0">
              <a:lnSpc>
                <a:spcPts val="1200"/>
              </a:lnSpc>
              <a:buNone/>
            </a:pPr>
            <a:r>
              <a:rPr lang="en-US" sz="980" dirty="0">
                <a:solidFill>
                  <a:srgbClr val="D7E6F0"/>
                </a:solidFill>
                <a:latin typeface="Calibri" pitchFamily="34" charset="0"/>
                <a:ea typeface="Calibri" pitchFamily="34" charset="-122"/>
                <a:cs typeface="Calibri" pitchFamily="34" charset="-120"/>
              </a:rPr>
              <a:t>generate grounded reply with ticket ID &amp; expected timeline</a:t>
            </a:r>
            <a:endParaRPr lang="en-US" sz="980" dirty="0"/>
          </a:p>
        </p:txBody>
      </p:sp>
      <p:sp>
        <p:nvSpPr>
          <p:cNvPr id="32" name="Text 2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3" name="Text 29"/>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MANDATORY TOOL · IBM BOB</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Building the Agent Workflow in IBM BOB</a:t>
            </a:r>
            <a:endParaRPr lang="en-US" sz="3000" dirty="0"/>
          </a:p>
        </p:txBody>
      </p:sp>
      <p:sp>
        <p:nvSpPr>
          <p:cNvPr id="4" name="Text 2"/>
          <p:cNvSpPr txBox="1"/>
          <p:nvPr/>
        </p:nvSpPr>
        <p:spPr>
          <a:xfrm>
            <a:off x="548640" y="1417320"/>
            <a:ext cx="10972800" cy="548640"/>
          </a:xfrm>
          <a:prstGeom prst="rect">
            <a:avLst/>
          </a:prstGeom>
          <a:noFill/>
          <a:ln/>
        </p:spPr>
        <p:txBody>
          <a:bodyPr wrap="square" lIns="0" tIns="0" rIns="0" bIns="0" rtlCol="0" anchor="ctr"/>
          <a:lstStyle/>
          <a:p>
            <a:pPr indent="0" marL="0">
              <a:lnSpc>
                <a:spcPts val="1900"/>
              </a:lnSpc>
              <a:buNone/>
            </a:pPr>
            <a:r>
              <a:rPr lang="en-US" sz="1350" dirty="0">
                <a:solidFill>
                  <a:srgbClr val="5B6B77"/>
                </a:solidFill>
                <a:latin typeface="Calibri" pitchFamily="34" charset="0"/>
                <a:ea typeface="Calibri" pitchFamily="34" charset="-122"/>
                <a:cs typeface="Calibri" pitchFamily="34" charset="-120"/>
              </a:rPr>
              <a:t>IBM BOB is the agentic development environment used to design, wire and test the Civic Grievance Assistant end to end — from a plain-language citizen message to a routed, trackable ticket.</a:t>
            </a:r>
            <a:endParaRPr lang="en-US" sz="1350" dirty="0"/>
          </a:p>
        </p:txBody>
      </p:sp>
      <p:sp>
        <p:nvSpPr>
          <p:cNvPr id="5" name="Shape 3"/>
          <p:cNvSpPr/>
          <p:nvPr/>
        </p:nvSpPr>
        <p:spPr>
          <a:xfrm>
            <a:off x="548640" y="2240280"/>
            <a:ext cx="2606040" cy="2880360"/>
          </a:xfrm>
          <a:prstGeom prst="roundRect">
            <a:avLst>
              <a:gd name="adj" fmla="val 2807"/>
            </a:avLst>
          </a:prstGeom>
          <a:solidFill>
            <a:srgbClr val="EAF3F6"/>
          </a:solidFill>
          <a:ln/>
        </p:spPr>
      </p:sp>
      <p:sp>
        <p:nvSpPr>
          <p:cNvPr id="6" name="Shape 4"/>
          <p:cNvSpPr/>
          <p:nvPr/>
        </p:nvSpPr>
        <p:spPr>
          <a:xfrm>
            <a:off x="777240" y="2468880"/>
            <a:ext cx="594360" cy="594360"/>
          </a:xfrm>
          <a:prstGeom prst="ellipse">
            <a:avLst/>
          </a:prstGeom>
          <a:solidFill>
            <a:srgbClr val="1C7293"/>
          </a:solidFill>
          <a:ln/>
        </p:spPr>
      </p:sp>
      <p:pic>
        <p:nvPicPr>
          <p:cNvPr id="7" name="Image 0" descr="icons/bullseye.png">    </p:cNvPr>
          <p:cNvPicPr>
            <a:picLocks noChangeAspect="1"/>
          </p:cNvPicPr>
          <p:nvPr/>
        </p:nvPicPr>
        <p:blipFill>
          <a:blip r:embed="rId1"/>
          <a:stretch>
            <a:fillRect/>
          </a:stretch>
        </p:blipFill>
        <p:spPr>
          <a:xfrm>
            <a:off x="910971" y="2602611"/>
            <a:ext cx="326898" cy="326898"/>
          </a:xfrm>
          <a:prstGeom prst="rect">
            <a:avLst/>
          </a:prstGeom>
        </p:spPr>
      </p:pic>
      <p:sp>
        <p:nvSpPr>
          <p:cNvPr id="8" name="Text 5"/>
          <p:cNvSpPr txBox="1"/>
          <p:nvPr/>
        </p:nvSpPr>
        <p:spPr>
          <a:xfrm>
            <a:off x="749808" y="3200400"/>
            <a:ext cx="2240280" cy="502920"/>
          </a:xfrm>
          <a:prstGeom prst="rect">
            <a:avLst/>
          </a:prstGeom>
          <a:noFill/>
          <a:ln/>
        </p:spPr>
        <p:txBody>
          <a:bodyPr wrap="square" lIns="0" tIns="0" rIns="0" bIns="0" rtlCol="0" anchor="ctr"/>
          <a:lstStyle/>
          <a:p>
            <a:pPr indent="0" marL="0">
              <a:lnSpc>
                <a:spcPts val="1500"/>
              </a:lnSpc>
              <a:buNone/>
            </a:pPr>
            <a:r>
              <a:rPr lang="en-US" sz="1250" b="1" dirty="0">
                <a:solidFill>
                  <a:srgbClr val="0B3D62"/>
                </a:solidFill>
                <a:latin typeface="Calibri" pitchFamily="34" charset="0"/>
                <a:ea typeface="Calibri" pitchFamily="34" charset="-122"/>
                <a:cs typeface="Calibri" pitchFamily="34" charset="-120"/>
              </a:rPr>
              <a:t>1. Define Agent Goal</a:t>
            </a:r>
            <a:endParaRPr lang="en-US" sz="1250" dirty="0"/>
          </a:p>
        </p:txBody>
      </p:sp>
      <p:sp>
        <p:nvSpPr>
          <p:cNvPr id="9" name="Text 6"/>
          <p:cNvSpPr txBox="1"/>
          <p:nvPr/>
        </p:nvSpPr>
        <p:spPr>
          <a:xfrm>
            <a:off x="749808" y="3703320"/>
            <a:ext cx="2240280" cy="1280160"/>
          </a:xfrm>
          <a:prstGeom prst="rect">
            <a:avLst/>
          </a:prstGeom>
          <a:noFill/>
          <a:ln/>
        </p:spPr>
        <p:txBody>
          <a:bodyPr wrap="square" lIns="0" tIns="0" rIns="0" bIns="0" rtlCol="0" anchor="ctr"/>
          <a:lstStyle/>
          <a:p>
            <a:pPr indent="0" marL="0">
              <a:lnSpc>
                <a:spcPts val="1300"/>
              </a:lnSpc>
              <a:buNone/>
            </a:pPr>
            <a:r>
              <a:rPr lang="en-US" sz="1030" dirty="0">
                <a:solidFill>
                  <a:srgbClr val="1B2A38"/>
                </a:solidFill>
                <a:latin typeface="Calibri" pitchFamily="34" charset="0"/>
                <a:ea typeface="Calibri" pitchFamily="34" charset="-122"/>
                <a:cs typeface="Calibri" pitchFamily="34" charset="-120"/>
              </a:rPr>
              <a:t>Set the agent's task: intake a citizen message and return a routed, SOP-grounded response.</a:t>
            </a:r>
            <a:endParaRPr lang="en-US" sz="1030" dirty="0"/>
          </a:p>
        </p:txBody>
      </p:sp>
      <p:sp>
        <p:nvSpPr>
          <p:cNvPr id="10" name="Text 7"/>
          <p:cNvSpPr txBox="1"/>
          <p:nvPr/>
        </p:nvSpPr>
        <p:spPr>
          <a:xfrm>
            <a:off x="3154680" y="3383280"/>
            <a:ext cx="274320" cy="457200"/>
          </a:xfrm>
          <a:prstGeom prst="rect">
            <a:avLst/>
          </a:prstGeom>
          <a:noFill/>
          <a:ln/>
        </p:spPr>
        <p:txBody>
          <a:bodyPr wrap="square" lIns="0" tIns="0" rIns="0" bIns="0" rtlCol="0" anchor="ctr"/>
          <a:lstStyle/>
          <a:p>
            <a:pPr algn="ctr" indent="0" marL="0">
              <a:buNone/>
            </a:pPr>
            <a:r>
              <a:rPr lang="en-US" sz="2000" b="1" dirty="0">
                <a:solidFill>
                  <a:srgbClr val="5B6B77"/>
                </a:solidFill>
              </a:rPr>
              <a:t>→</a:t>
            </a:r>
            <a:endParaRPr lang="en-US" sz="2000" dirty="0"/>
          </a:p>
        </p:txBody>
      </p:sp>
      <p:sp>
        <p:nvSpPr>
          <p:cNvPr id="11" name="Shape 8"/>
          <p:cNvSpPr/>
          <p:nvPr/>
        </p:nvSpPr>
        <p:spPr>
          <a:xfrm>
            <a:off x="3429000" y="2240280"/>
            <a:ext cx="2606040" cy="2880360"/>
          </a:xfrm>
          <a:prstGeom prst="roundRect">
            <a:avLst>
              <a:gd name="adj" fmla="val 2807"/>
            </a:avLst>
          </a:prstGeom>
          <a:solidFill>
            <a:srgbClr val="FDF3E4"/>
          </a:solidFill>
          <a:ln/>
        </p:spPr>
      </p:sp>
      <p:sp>
        <p:nvSpPr>
          <p:cNvPr id="12" name="Shape 9"/>
          <p:cNvSpPr/>
          <p:nvPr/>
        </p:nvSpPr>
        <p:spPr>
          <a:xfrm>
            <a:off x="3657600" y="2468880"/>
            <a:ext cx="594360" cy="594360"/>
          </a:xfrm>
          <a:prstGeom prst="ellipse">
            <a:avLst/>
          </a:prstGeom>
          <a:solidFill>
            <a:srgbClr val="C97F12"/>
          </a:solidFill>
          <a:ln/>
        </p:spPr>
      </p:sp>
      <p:pic>
        <p:nvPicPr>
          <p:cNvPr id="13" name="Image 1" descr="icons/sitemap.png">    </p:cNvPr>
          <p:cNvPicPr>
            <a:picLocks noChangeAspect="1"/>
          </p:cNvPicPr>
          <p:nvPr/>
        </p:nvPicPr>
        <p:blipFill>
          <a:blip r:embed="rId2"/>
          <a:stretch>
            <a:fillRect/>
          </a:stretch>
        </p:blipFill>
        <p:spPr>
          <a:xfrm>
            <a:off x="3791331" y="2602611"/>
            <a:ext cx="326898" cy="326898"/>
          </a:xfrm>
          <a:prstGeom prst="rect">
            <a:avLst/>
          </a:prstGeom>
        </p:spPr>
      </p:pic>
      <p:sp>
        <p:nvSpPr>
          <p:cNvPr id="14" name="Text 10"/>
          <p:cNvSpPr txBox="1"/>
          <p:nvPr/>
        </p:nvSpPr>
        <p:spPr>
          <a:xfrm>
            <a:off x="3630168" y="3200400"/>
            <a:ext cx="2240280" cy="502920"/>
          </a:xfrm>
          <a:prstGeom prst="rect">
            <a:avLst/>
          </a:prstGeom>
          <a:noFill/>
          <a:ln/>
        </p:spPr>
        <p:txBody>
          <a:bodyPr wrap="square" lIns="0" tIns="0" rIns="0" bIns="0" rtlCol="0" anchor="ctr"/>
          <a:lstStyle/>
          <a:p>
            <a:pPr indent="0" marL="0">
              <a:lnSpc>
                <a:spcPts val="1500"/>
              </a:lnSpc>
              <a:buNone/>
            </a:pPr>
            <a:r>
              <a:rPr lang="en-US" sz="1250" b="1" dirty="0">
                <a:solidFill>
                  <a:srgbClr val="0B3D62"/>
                </a:solidFill>
                <a:latin typeface="Calibri" pitchFamily="34" charset="0"/>
                <a:ea typeface="Calibri" pitchFamily="34" charset="-122"/>
                <a:cs typeface="Calibri" pitchFamily="34" charset="-120"/>
              </a:rPr>
              <a:t>2. Connect Tools</a:t>
            </a:r>
            <a:endParaRPr lang="en-US" sz="1250" dirty="0"/>
          </a:p>
        </p:txBody>
      </p:sp>
      <p:sp>
        <p:nvSpPr>
          <p:cNvPr id="15" name="Text 11"/>
          <p:cNvSpPr txBox="1"/>
          <p:nvPr/>
        </p:nvSpPr>
        <p:spPr>
          <a:xfrm>
            <a:off x="3630168" y="3703320"/>
            <a:ext cx="2240280" cy="1280160"/>
          </a:xfrm>
          <a:prstGeom prst="rect">
            <a:avLst/>
          </a:prstGeom>
          <a:noFill/>
          <a:ln/>
        </p:spPr>
        <p:txBody>
          <a:bodyPr wrap="square" lIns="0" tIns="0" rIns="0" bIns="0" rtlCol="0" anchor="ctr"/>
          <a:lstStyle/>
          <a:p>
            <a:pPr indent="0" marL="0">
              <a:lnSpc>
                <a:spcPts val="1300"/>
              </a:lnSpc>
              <a:buNone/>
            </a:pPr>
            <a:r>
              <a:rPr lang="en-US" sz="1030" dirty="0">
                <a:solidFill>
                  <a:srgbClr val="1B2A38"/>
                </a:solidFill>
                <a:latin typeface="Calibri" pitchFamily="34" charset="0"/>
                <a:ea typeface="Calibri" pitchFamily="34" charset="-122"/>
                <a:cs typeface="Calibri" pitchFamily="34" charset="-120"/>
              </a:rPr>
              <a:t>Wire the agent to the SOP knowledge base (RAG), entity-extraction step and the ticket/routing store.</a:t>
            </a:r>
            <a:endParaRPr lang="en-US" sz="1030" dirty="0"/>
          </a:p>
        </p:txBody>
      </p:sp>
      <p:sp>
        <p:nvSpPr>
          <p:cNvPr id="16" name="Text 12"/>
          <p:cNvSpPr txBox="1"/>
          <p:nvPr/>
        </p:nvSpPr>
        <p:spPr>
          <a:xfrm>
            <a:off x="6035040" y="3383280"/>
            <a:ext cx="274320" cy="457200"/>
          </a:xfrm>
          <a:prstGeom prst="rect">
            <a:avLst/>
          </a:prstGeom>
          <a:noFill/>
          <a:ln/>
        </p:spPr>
        <p:txBody>
          <a:bodyPr wrap="square" lIns="0" tIns="0" rIns="0" bIns="0" rtlCol="0" anchor="ctr"/>
          <a:lstStyle/>
          <a:p>
            <a:pPr algn="ctr" indent="0" marL="0">
              <a:buNone/>
            </a:pPr>
            <a:r>
              <a:rPr lang="en-US" sz="2000" b="1" dirty="0">
                <a:solidFill>
                  <a:srgbClr val="5B6B77"/>
                </a:solidFill>
              </a:rPr>
              <a:t>→</a:t>
            </a:r>
            <a:endParaRPr lang="en-US" sz="2000" dirty="0"/>
          </a:p>
        </p:txBody>
      </p:sp>
      <p:sp>
        <p:nvSpPr>
          <p:cNvPr id="17" name="Shape 13"/>
          <p:cNvSpPr/>
          <p:nvPr/>
        </p:nvSpPr>
        <p:spPr>
          <a:xfrm>
            <a:off x="6309360" y="2240280"/>
            <a:ext cx="2606040" cy="2880360"/>
          </a:xfrm>
          <a:prstGeom prst="roundRect">
            <a:avLst>
              <a:gd name="adj" fmla="val 2807"/>
            </a:avLst>
          </a:prstGeom>
          <a:solidFill>
            <a:srgbClr val="EAF3F6"/>
          </a:solidFill>
          <a:ln/>
        </p:spPr>
      </p:sp>
      <p:sp>
        <p:nvSpPr>
          <p:cNvPr id="18" name="Shape 14"/>
          <p:cNvSpPr/>
          <p:nvPr/>
        </p:nvSpPr>
        <p:spPr>
          <a:xfrm>
            <a:off x="6537960" y="2468880"/>
            <a:ext cx="594360" cy="594360"/>
          </a:xfrm>
          <a:prstGeom prst="ellipse">
            <a:avLst/>
          </a:prstGeom>
          <a:solidFill>
            <a:srgbClr val="1C7293"/>
          </a:solidFill>
          <a:ln/>
        </p:spPr>
      </p:sp>
      <p:pic>
        <p:nvPicPr>
          <p:cNvPr id="19" name="Image 2" descr="icons/clipboard.png">    </p:cNvPr>
          <p:cNvPicPr>
            <a:picLocks noChangeAspect="1"/>
          </p:cNvPicPr>
          <p:nvPr/>
        </p:nvPicPr>
        <p:blipFill>
          <a:blip r:embed="rId3"/>
          <a:stretch>
            <a:fillRect/>
          </a:stretch>
        </p:blipFill>
        <p:spPr>
          <a:xfrm>
            <a:off x="6671691" y="2602611"/>
            <a:ext cx="326898" cy="326898"/>
          </a:xfrm>
          <a:prstGeom prst="rect">
            <a:avLst/>
          </a:prstGeom>
        </p:spPr>
      </p:pic>
      <p:sp>
        <p:nvSpPr>
          <p:cNvPr id="20" name="Text 15"/>
          <p:cNvSpPr txBox="1"/>
          <p:nvPr/>
        </p:nvSpPr>
        <p:spPr>
          <a:xfrm>
            <a:off x="6510528" y="3200400"/>
            <a:ext cx="2240280" cy="502920"/>
          </a:xfrm>
          <a:prstGeom prst="rect">
            <a:avLst/>
          </a:prstGeom>
          <a:noFill/>
          <a:ln/>
        </p:spPr>
        <p:txBody>
          <a:bodyPr wrap="square" lIns="0" tIns="0" rIns="0" bIns="0" rtlCol="0" anchor="ctr"/>
          <a:lstStyle/>
          <a:p>
            <a:pPr indent="0" marL="0">
              <a:lnSpc>
                <a:spcPts val="1500"/>
              </a:lnSpc>
              <a:buNone/>
            </a:pPr>
            <a:r>
              <a:rPr lang="en-US" sz="1250" b="1" dirty="0">
                <a:solidFill>
                  <a:srgbClr val="0B3D62"/>
                </a:solidFill>
                <a:latin typeface="Calibri" pitchFamily="34" charset="0"/>
                <a:ea typeface="Calibri" pitchFamily="34" charset="-122"/>
                <a:cs typeface="Calibri" pitchFamily="34" charset="-120"/>
              </a:rPr>
              <a:t>3. Test with Cases</a:t>
            </a:r>
            <a:endParaRPr lang="en-US" sz="1250" dirty="0"/>
          </a:p>
        </p:txBody>
      </p:sp>
      <p:sp>
        <p:nvSpPr>
          <p:cNvPr id="21" name="Text 16"/>
          <p:cNvSpPr txBox="1"/>
          <p:nvPr/>
        </p:nvSpPr>
        <p:spPr>
          <a:xfrm>
            <a:off x="6510528" y="3703320"/>
            <a:ext cx="2240280" cy="1280160"/>
          </a:xfrm>
          <a:prstGeom prst="rect">
            <a:avLst/>
          </a:prstGeom>
          <a:noFill/>
          <a:ln/>
        </p:spPr>
        <p:txBody>
          <a:bodyPr wrap="square" lIns="0" tIns="0" rIns="0" bIns="0" rtlCol="0" anchor="ctr"/>
          <a:lstStyle/>
          <a:p>
            <a:pPr indent="0" marL="0">
              <a:lnSpc>
                <a:spcPts val="1300"/>
              </a:lnSpc>
              <a:buNone/>
            </a:pPr>
            <a:r>
              <a:rPr lang="en-US" sz="1030" dirty="0">
                <a:solidFill>
                  <a:srgbClr val="1B2A38"/>
                </a:solidFill>
                <a:latin typeface="Calibri" pitchFamily="34" charset="0"/>
                <a:ea typeface="Calibri" pitchFamily="34" charset="-122"/>
                <a:cs typeface="Calibri" pitchFamily="34" charset="-120"/>
              </a:rPr>
              <a:t>Run sample complaints (varied wards, severities, phrasing) and check routing &amp; tone against SOPs.</a:t>
            </a:r>
            <a:endParaRPr lang="en-US" sz="1030" dirty="0"/>
          </a:p>
        </p:txBody>
      </p:sp>
      <p:sp>
        <p:nvSpPr>
          <p:cNvPr id="22" name="Text 17"/>
          <p:cNvSpPr txBox="1"/>
          <p:nvPr/>
        </p:nvSpPr>
        <p:spPr>
          <a:xfrm>
            <a:off x="8915400" y="3383280"/>
            <a:ext cx="274320" cy="457200"/>
          </a:xfrm>
          <a:prstGeom prst="rect">
            <a:avLst/>
          </a:prstGeom>
          <a:noFill/>
          <a:ln/>
        </p:spPr>
        <p:txBody>
          <a:bodyPr wrap="square" lIns="0" tIns="0" rIns="0" bIns="0" rtlCol="0" anchor="ctr"/>
          <a:lstStyle/>
          <a:p>
            <a:pPr algn="ctr" indent="0" marL="0">
              <a:buNone/>
            </a:pPr>
            <a:r>
              <a:rPr lang="en-US" sz="2000" b="1" dirty="0">
                <a:solidFill>
                  <a:srgbClr val="5B6B77"/>
                </a:solidFill>
              </a:rPr>
              <a:t>→</a:t>
            </a:r>
            <a:endParaRPr lang="en-US" sz="2000" dirty="0"/>
          </a:p>
        </p:txBody>
      </p:sp>
      <p:sp>
        <p:nvSpPr>
          <p:cNvPr id="23" name="Shape 18"/>
          <p:cNvSpPr/>
          <p:nvPr/>
        </p:nvSpPr>
        <p:spPr>
          <a:xfrm>
            <a:off x="9189720" y="2240280"/>
            <a:ext cx="2606040" cy="2880360"/>
          </a:xfrm>
          <a:prstGeom prst="roundRect">
            <a:avLst>
              <a:gd name="adj" fmla="val 2807"/>
            </a:avLst>
          </a:prstGeom>
          <a:solidFill>
            <a:srgbClr val="FDF3E4"/>
          </a:solidFill>
          <a:ln/>
        </p:spPr>
      </p:sp>
      <p:sp>
        <p:nvSpPr>
          <p:cNvPr id="24" name="Shape 19"/>
          <p:cNvSpPr/>
          <p:nvPr/>
        </p:nvSpPr>
        <p:spPr>
          <a:xfrm>
            <a:off x="9418320" y="2468880"/>
            <a:ext cx="594360" cy="594360"/>
          </a:xfrm>
          <a:prstGeom prst="ellipse">
            <a:avLst/>
          </a:prstGeom>
          <a:solidFill>
            <a:srgbClr val="C97F12"/>
          </a:solidFill>
          <a:ln/>
        </p:spPr>
      </p:sp>
      <p:pic>
        <p:nvPicPr>
          <p:cNvPr id="25" name="Image 3" descr="icons/flag.png">    </p:cNvPr>
          <p:cNvPicPr>
            <a:picLocks noChangeAspect="1"/>
          </p:cNvPicPr>
          <p:nvPr/>
        </p:nvPicPr>
        <p:blipFill>
          <a:blip r:embed="rId4"/>
          <a:stretch>
            <a:fillRect/>
          </a:stretch>
        </p:blipFill>
        <p:spPr>
          <a:xfrm>
            <a:off x="9552051" y="2602611"/>
            <a:ext cx="326898" cy="326898"/>
          </a:xfrm>
          <a:prstGeom prst="rect">
            <a:avLst/>
          </a:prstGeom>
        </p:spPr>
      </p:pic>
      <p:sp>
        <p:nvSpPr>
          <p:cNvPr id="26" name="Text 20"/>
          <p:cNvSpPr txBox="1"/>
          <p:nvPr/>
        </p:nvSpPr>
        <p:spPr>
          <a:xfrm>
            <a:off x="9390888" y="3200400"/>
            <a:ext cx="2240280" cy="502920"/>
          </a:xfrm>
          <a:prstGeom prst="rect">
            <a:avLst/>
          </a:prstGeom>
          <a:noFill/>
          <a:ln/>
        </p:spPr>
        <p:txBody>
          <a:bodyPr wrap="square" lIns="0" tIns="0" rIns="0" bIns="0" rtlCol="0" anchor="ctr"/>
          <a:lstStyle/>
          <a:p>
            <a:pPr indent="0" marL="0">
              <a:lnSpc>
                <a:spcPts val="1500"/>
              </a:lnSpc>
              <a:buNone/>
            </a:pPr>
            <a:r>
              <a:rPr lang="en-US" sz="1250" b="1" dirty="0">
                <a:solidFill>
                  <a:srgbClr val="0B3D62"/>
                </a:solidFill>
                <a:latin typeface="Calibri" pitchFamily="34" charset="0"/>
                <a:ea typeface="Calibri" pitchFamily="34" charset="-122"/>
                <a:cs typeface="Calibri" pitchFamily="34" charset="-120"/>
              </a:rPr>
              <a:t>4. Refine &amp; Iterate</a:t>
            </a:r>
            <a:endParaRPr lang="en-US" sz="1250" dirty="0"/>
          </a:p>
        </p:txBody>
      </p:sp>
      <p:sp>
        <p:nvSpPr>
          <p:cNvPr id="27" name="Text 21"/>
          <p:cNvSpPr txBox="1"/>
          <p:nvPr/>
        </p:nvSpPr>
        <p:spPr>
          <a:xfrm>
            <a:off x="9390888" y="3703320"/>
            <a:ext cx="2240280" cy="1280160"/>
          </a:xfrm>
          <a:prstGeom prst="rect">
            <a:avLst/>
          </a:prstGeom>
          <a:noFill/>
          <a:ln/>
        </p:spPr>
        <p:txBody>
          <a:bodyPr wrap="square" lIns="0" tIns="0" rIns="0" bIns="0" rtlCol="0" anchor="ctr"/>
          <a:lstStyle/>
          <a:p>
            <a:pPr indent="0" marL="0">
              <a:lnSpc>
                <a:spcPts val="1300"/>
              </a:lnSpc>
              <a:buNone/>
            </a:pPr>
            <a:r>
              <a:rPr lang="en-US" sz="1030" dirty="0">
                <a:solidFill>
                  <a:srgbClr val="1B2A38"/>
                </a:solidFill>
                <a:latin typeface="Calibri" pitchFamily="34" charset="0"/>
                <a:ea typeface="Calibri" pitchFamily="34" charset="-122"/>
                <a:cs typeface="Calibri" pitchFamily="34" charset="-120"/>
              </a:rPr>
              <a:t>Use mentor and test-case feedback to tighten prompts, fix mis-routes, and re-run the test set.</a:t>
            </a:r>
            <a:endParaRPr lang="en-US" sz="1030" dirty="0"/>
          </a:p>
        </p:txBody>
      </p:sp>
      <p:sp>
        <p:nvSpPr>
          <p:cNvPr id="28" name="Shape 22"/>
          <p:cNvSpPr/>
          <p:nvPr/>
        </p:nvSpPr>
        <p:spPr>
          <a:xfrm>
            <a:off x="548640" y="5440680"/>
            <a:ext cx="11064240" cy="777240"/>
          </a:xfrm>
          <a:prstGeom prst="roundRect">
            <a:avLst>
              <a:gd name="adj" fmla="val 9412"/>
            </a:avLst>
          </a:prstGeom>
          <a:solidFill>
            <a:srgbClr val="0B3D62"/>
          </a:solidFill>
          <a:ln/>
        </p:spPr>
      </p:sp>
      <p:sp>
        <p:nvSpPr>
          <p:cNvPr id="29" name="Text 23"/>
          <p:cNvSpPr txBox="1"/>
          <p:nvPr/>
        </p:nvSpPr>
        <p:spPr>
          <a:xfrm>
            <a:off x="822960" y="5440680"/>
            <a:ext cx="10515600" cy="777240"/>
          </a:xfrm>
          <a:prstGeom prst="rect">
            <a:avLst/>
          </a:prstGeom>
          <a:noFill/>
          <a:ln/>
        </p:spPr>
        <p:txBody>
          <a:bodyPr wrap="square" lIns="0" tIns="0" rIns="0" bIns="0" rtlCol="0" anchor="ctr"/>
          <a:lstStyle/>
          <a:p>
            <a:pPr indent="0" marL="0">
              <a:lnSpc>
                <a:spcPts val="1600"/>
              </a:lnSpc>
              <a:buNone/>
            </a:pPr>
            <a:r>
              <a:rPr lang="en-US" sz="1150" i="1" dirty="0">
                <a:solidFill>
                  <a:srgbClr val="D7E6F0"/>
                </a:solidFill>
                <a:latin typeface="Calibri" pitchFamily="34" charset="0"/>
                <a:ea typeface="Calibri" pitchFamily="34" charset="-122"/>
                <a:cs typeface="Calibri" pitchFamily="34" charset="-120"/>
              </a:rPr>
              <a:t>Why IBM BOB specifically: it lets the agent's tool connections (RAG lookup, entity extraction, routing) be built, observed and re-tested as one workflow — instead of stitched together as disconnected scripts.</a:t>
            </a:r>
            <a:endParaRPr lang="en-US" sz="1150" dirty="0"/>
          </a:p>
        </p:txBody>
      </p:sp>
      <p:sp>
        <p:nvSpPr>
          <p:cNvPr id="30" name="Text 24"/>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1" name="Text 25"/>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PROTOTYPE CODE · WORKING DEMO</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From Diagram to Running Code</a:t>
            </a:r>
            <a:endParaRPr lang="en-US" sz="3000" dirty="0"/>
          </a:p>
        </p:txBody>
      </p:sp>
      <p:sp>
        <p:nvSpPr>
          <p:cNvPr id="4" name="Shape 2"/>
          <p:cNvSpPr/>
          <p:nvPr/>
        </p:nvSpPr>
        <p:spPr>
          <a:xfrm>
            <a:off x="548640" y="1417320"/>
            <a:ext cx="6309360" cy="4617720"/>
          </a:xfrm>
          <a:prstGeom prst="roundRect">
            <a:avLst>
              <a:gd name="adj" fmla="val 1584"/>
            </a:avLst>
          </a:prstGeom>
          <a:solidFill>
            <a:srgbClr val="082C48"/>
          </a:solidFill>
          <a:ln/>
        </p:spPr>
      </p:sp>
      <p:sp>
        <p:nvSpPr>
          <p:cNvPr id="5" name="Text 3"/>
          <p:cNvSpPr txBox="1"/>
          <p:nvPr/>
        </p:nvSpPr>
        <p:spPr>
          <a:xfrm>
            <a:off x="822960" y="1572768"/>
            <a:ext cx="5760720" cy="274320"/>
          </a:xfrm>
          <a:prstGeom prst="rect">
            <a:avLst/>
          </a:prstGeom>
          <a:noFill/>
          <a:ln/>
        </p:spPr>
        <p:txBody>
          <a:bodyPr wrap="square" lIns="0" tIns="0" rIns="0" bIns="0" rtlCol="0" anchor="ctr"/>
          <a:lstStyle/>
          <a:p>
            <a:pPr indent="0" marL="0">
              <a:buNone/>
            </a:pPr>
            <a:r>
              <a:rPr lang="en-US" sz="1050" b="1" dirty="0">
                <a:solidFill>
                  <a:srgbClr val="F2A93B"/>
                </a:solidFill>
                <a:latin typeface="Calibri" pitchFamily="34" charset="0"/>
                <a:ea typeface="Calibri" pitchFamily="34" charset="-122"/>
                <a:cs typeface="Calibri" pitchFamily="34" charset="-120"/>
              </a:rPr>
              <a:t>urbanguard_agent.py  (excerpt)</a:t>
            </a:r>
            <a:endParaRPr lang="en-US" sz="1050" dirty="0"/>
          </a:p>
        </p:txBody>
      </p:sp>
      <p:sp>
        <p:nvSpPr>
          <p:cNvPr id="6" name="Text 4"/>
          <p:cNvSpPr txBox="1"/>
          <p:nvPr/>
        </p:nvSpPr>
        <p:spPr>
          <a:xfrm>
            <a:off x="822960" y="1874520"/>
            <a:ext cx="5760720" cy="2834640"/>
          </a:xfrm>
          <a:prstGeom prst="rect">
            <a:avLst/>
          </a:prstGeom>
          <a:noFill/>
          <a:ln/>
        </p:spPr>
        <p:txBody>
          <a:bodyPr wrap="square" lIns="0" tIns="0" rIns="0" bIns="0" rtlCol="0" anchor="ctr"/>
          <a:lstStyle/>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 = StateGraph(State)</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graph_builder.add_node("supervisor", supervisor_node)</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graph_builder.add_node("risk_advisor", risk_advisor_node)</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graph_builder.add_node("grievance_handler",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                        grievance_handler_node)</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graph_builder.add_node("writer", writer_node)</a:t>
            </a:r>
            <a:endParaRPr lang="en-US" sz="1030" dirty="0"/>
          </a:p>
          <a:p>
            <a:pPr indent="0" marL="0">
              <a:lnSpc>
                <a:spcPts val="1400"/>
              </a:lnSpc>
              <a:buNone/>
            </a:pP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graph_builder.add_edge(START, "supervisor")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graph_builder.add_conditional_edges(</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    "supervisor", route,</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    {"risk_advisor": "risk_advisor",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     "grievance_handler": "grievance_handler"}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graph_builder.add_edge("risk_advisor", "writer")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graph_builder.add_edge("grievance_handler", "writer")</a:t>
            </a:r>
            <a:endParaRPr lang="en-US" sz="1030" dirty="0"/>
          </a:p>
          <a:p>
            <a:pPr indent="0" marL="0">
              <a:lnSpc>
                <a:spcPts val="1400"/>
              </a:lnSpc>
              <a:buNone/>
            </a:pPr>
            <a:r>
              <a:rPr lang="en-US" sz="1030" dirty="0">
                <a:solidFill>
                  <a:srgbClr val="CFE3EF"/>
                </a:solidFill>
                <a:latin typeface="Courier New" pitchFamily="34" charset="0"/>
                <a:ea typeface="Courier New" pitchFamily="34" charset="-122"/>
                <a:cs typeface="Courier New" pitchFamily="34" charset="-120"/>
              </a:rPr>
              <a:t>graph_builder.add_edge("writer", END)</a:t>
            </a:r>
            <a:endParaRPr lang="en-US" sz="1030" dirty="0"/>
          </a:p>
        </p:txBody>
      </p:sp>
      <p:sp>
        <p:nvSpPr>
          <p:cNvPr id="7" name="Shape 5"/>
          <p:cNvSpPr/>
          <p:nvPr/>
        </p:nvSpPr>
        <p:spPr>
          <a:xfrm>
            <a:off x="822960" y="4800600"/>
            <a:ext cx="5760720" cy="0"/>
          </a:xfrm>
          <a:prstGeom prst="line">
            <a:avLst/>
          </a:prstGeom>
          <a:noFill/>
          <a:ln w="12700">
            <a:solidFill>
              <a:srgbClr val="27547A"/>
            </a:solidFill>
            <a:prstDash val="solid"/>
          </a:ln>
        </p:spPr>
      </p:sp>
      <p:sp>
        <p:nvSpPr>
          <p:cNvPr id="8" name="Text 6"/>
          <p:cNvSpPr txBox="1"/>
          <p:nvPr/>
        </p:nvSpPr>
        <p:spPr>
          <a:xfrm>
            <a:off x="822960" y="4937760"/>
            <a:ext cx="5760720" cy="960120"/>
          </a:xfrm>
          <a:prstGeom prst="rect">
            <a:avLst/>
          </a:prstGeom>
          <a:noFill/>
          <a:ln/>
        </p:spPr>
        <p:txBody>
          <a:bodyPr wrap="square" lIns="0" tIns="0" rIns="0" bIns="0" rtlCol="0" anchor="ctr"/>
          <a:lstStyle/>
          <a:p>
            <a:pPr indent="0" marL="0">
              <a:lnSpc>
                <a:spcPts val="1500"/>
              </a:lnSpc>
              <a:buNone/>
            </a:pPr>
            <a:r>
              <a:rPr lang="en-US" sz="1080" i="1" dirty="0">
                <a:solidFill>
                  <a:srgbClr val="A9C3D6"/>
                </a:solidFill>
                <a:latin typeface="Calibri" pitchFamily="34" charset="0"/>
                <a:ea typeface="Calibri" pitchFamily="34" charset="-122"/>
                <a:cs typeface="Calibri" pitchFamily="34" charset="-120"/>
              </a:rPr>
              <a:t>Runs with zero API keys — a bundled offline DemoLLM lets the full graph execute end to end for grading, no setup required.</a:t>
            </a:r>
            <a:endParaRPr lang="en-US" sz="1080" dirty="0"/>
          </a:p>
        </p:txBody>
      </p:sp>
      <p:sp>
        <p:nvSpPr>
          <p:cNvPr id="9" name="Shape 7"/>
          <p:cNvSpPr/>
          <p:nvPr/>
        </p:nvSpPr>
        <p:spPr>
          <a:xfrm>
            <a:off x="7086600" y="1417320"/>
            <a:ext cx="4526280" cy="4617720"/>
          </a:xfrm>
          <a:prstGeom prst="roundRect">
            <a:avLst>
              <a:gd name="adj" fmla="val 1616"/>
            </a:avLst>
          </a:prstGeom>
          <a:solidFill>
            <a:srgbClr val="F5F9FA"/>
          </a:solidFill>
          <a:ln/>
        </p:spPr>
      </p:sp>
      <p:sp>
        <p:nvSpPr>
          <p:cNvPr id="10" name="Shape 8"/>
          <p:cNvSpPr/>
          <p:nvPr/>
        </p:nvSpPr>
        <p:spPr>
          <a:xfrm>
            <a:off x="7360920" y="1645920"/>
            <a:ext cx="548640" cy="548640"/>
          </a:xfrm>
          <a:prstGeom prst="ellipse">
            <a:avLst/>
          </a:prstGeom>
          <a:solidFill>
            <a:srgbClr val="1C7293"/>
          </a:solidFill>
          <a:ln/>
        </p:spPr>
      </p:sp>
      <p:pic>
        <p:nvPicPr>
          <p:cNvPr id="11" name="Image 0" descr="icons/sitemap.png">    </p:cNvPr>
          <p:cNvPicPr>
            <a:picLocks noChangeAspect="1"/>
          </p:cNvPicPr>
          <p:nvPr/>
        </p:nvPicPr>
        <p:blipFill>
          <a:blip r:embed="rId1"/>
          <a:stretch>
            <a:fillRect/>
          </a:stretch>
        </p:blipFill>
        <p:spPr>
          <a:xfrm>
            <a:off x="7484364" y="1769364"/>
            <a:ext cx="301752" cy="301752"/>
          </a:xfrm>
          <a:prstGeom prst="rect">
            <a:avLst/>
          </a:prstGeom>
        </p:spPr>
      </p:pic>
      <p:sp>
        <p:nvSpPr>
          <p:cNvPr id="12" name="Text 9"/>
          <p:cNvSpPr txBox="1"/>
          <p:nvPr/>
        </p:nvSpPr>
        <p:spPr>
          <a:xfrm>
            <a:off x="8046720" y="1700784"/>
            <a:ext cx="3429000" cy="457200"/>
          </a:xfrm>
          <a:prstGeom prst="rect">
            <a:avLst/>
          </a:prstGeom>
          <a:noFill/>
          <a:ln/>
        </p:spPr>
        <p:txBody>
          <a:bodyPr wrap="square" lIns="0" tIns="0" rIns="0" bIns="0" rtlCol="0" anchor="ctr"/>
          <a:lstStyle/>
          <a:p>
            <a:pPr indent="0" marL="0">
              <a:buNone/>
            </a:pPr>
            <a:r>
              <a:rPr lang="en-US" sz="1450" b="1" dirty="0">
                <a:solidFill>
                  <a:srgbClr val="0B3D62"/>
                </a:solidFill>
                <a:latin typeface="Calibri" pitchFamily="34" charset="0"/>
                <a:ea typeface="Calibri" pitchFamily="34" charset="-122"/>
                <a:cs typeface="Calibri" pitchFamily="34" charset="-120"/>
              </a:rPr>
              <a:t>Reference &amp; Credits</a:t>
            </a:r>
            <a:endParaRPr lang="en-US" sz="1450" dirty="0"/>
          </a:p>
        </p:txBody>
      </p:sp>
      <p:sp>
        <p:nvSpPr>
          <p:cNvPr id="13" name="Text 10"/>
          <p:cNvSpPr txBox="1"/>
          <p:nvPr/>
        </p:nvSpPr>
        <p:spPr>
          <a:xfrm>
            <a:off x="7360920" y="2331720"/>
            <a:ext cx="4114800" cy="274320"/>
          </a:xfrm>
          <a:prstGeom prst="rect">
            <a:avLst/>
          </a:prstGeom>
          <a:noFill/>
          <a:ln/>
        </p:spPr>
        <p:txBody>
          <a:bodyPr wrap="square" lIns="0" tIns="0" rIns="0" bIns="0" rtlCol="0" anchor="ctr"/>
          <a:lstStyle/>
          <a:p>
            <a:pPr indent="0" marL="0">
              <a:buNone/>
            </a:pPr>
            <a:r>
              <a:rPr lang="en-US" sz="1100" dirty="0">
                <a:solidFill>
                  <a:srgbClr val="5B6B77"/>
                </a:solidFill>
                <a:latin typeface="Calibri" pitchFamily="34" charset="0"/>
                <a:ea typeface="Calibri" pitchFamily="34" charset="-122"/>
                <a:cs typeface="Calibri" pitchFamily="34" charset="-120"/>
              </a:rPr>
              <a:t>Adapted from the open-source workshop repo:</a:t>
            </a:r>
            <a:endParaRPr lang="en-US" sz="1100" dirty="0"/>
          </a:p>
        </p:txBody>
      </p:sp>
      <p:sp>
        <p:nvSpPr>
          <p:cNvPr id="14" name="Text 11"/>
          <p:cNvSpPr txBox="1"/>
          <p:nvPr/>
        </p:nvSpPr>
        <p:spPr>
          <a:xfrm>
            <a:off x="7360920" y="2587752"/>
            <a:ext cx="4114800" cy="292608"/>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github.com/jvmkumar81/agenticAI</a:t>
            </a:r>
            <a:endParaRPr lang="en-US" sz="1250" dirty="0"/>
          </a:p>
        </p:txBody>
      </p:sp>
      <p:sp>
        <p:nvSpPr>
          <p:cNvPr id="15" name="Shape 12"/>
          <p:cNvSpPr/>
          <p:nvPr/>
        </p:nvSpPr>
        <p:spPr>
          <a:xfrm>
            <a:off x="7360920" y="3063240"/>
            <a:ext cx="118872" cy="118872"/>
          </a:xfrm>
          <a:prstGeom prst="ellipse">
            <a:avLst/>
          </a:prstGeom>
          <a:solidFill>
            <a:srgbClr val="C97F12"/>
          </a:solidFill>
          <a:ln/>
        </p:spPr>
      </p:sp>
      <p:sp>
        <p:nvSpPr>
          <p:cNvPr id="16" name="Text 13"/>
          <p:cNvSpPr txBox="1"/>
          <p:nvPr/>
        </p:nvSpPr>
        <p:spPr>
          <a:xfrm>
            <a:off x="7607808" y="2971800"/>
            <a:ext cx="3886200" cy="274320"/>
          </a:xfrm>
          <a:prstGeom prst="rect">
            <a:avLst/>
          </a:prstGeom>
          <a:noFill/>
          <a:ln/>
        </p:spPr>
        <p:txBody>
          <a:bodyPr wrap="square" lIns="0" tIns="0" rIns="0" bIns="0" rtlCol="0" anchor="ctr"/>
          <a:lstStyle/>
          <a:p>
            <a:pPr indent="0" marL="0">
              <a:buNone/>
            </a:pPr>
            <a:r>
              <a:rPr lang="en-US" sz="1150" b="1" dirty="0">
                <a:solidFill>
                  <a:srgbClr val="0B3D62"/>
                </a:solidFill>
                <a:latin typeface="Calibri" pitchFamily="34" charset="0"/>
                <a:ea typeface="Calibri" pitchFamily="34" charset="-122"/>
                <a:cs typeface="Calibri" pitchFamily="34" charset="-120"/>
              </a:rPr>
              <a:t>Lab 2 — Tool-Using Agent w/ RAG</a:t>
            </a:r>
            <a:endParaRPr lang="en-US" sz="1150" dirty="0"/>
          </a:p>
        </p:txBody>
      </p:sp>
      <p:sp>
        <p:nvSpPr>
          <p:cNvPr id="17" name="Text 14"/>
          <p:cNvSpPr txBox="1"/>
          <p:nvPr/>
        </p:nvSpPr>
        <p:spPr>
          <a:xfrm>
            <a:off x="7607808" y="3246120"/>
            <a:ext cx="3886200" cy="457200"/>
          </a:xfrm>
          <a:prstGeom prst="rect">
            <a:avLst/>
          </a:prstGeom>
          <a:noFill/>
          <a:ln/>
        </p:spPr>
        <p:txBody>
          <a:bodyPr wrap="square" lIns="0" tIns="0" rIns="0" bIns="0" rtlCol="0" anchor="ctr"/>
          <a:lstStyle/>
          <a:p>
            <a:pPr indent="0" marL="0">
              <a:lnSpc>
                <a:spcPts val="1300"/>
              </a:lnSpc>
              <a:buNone/>
            </a:pPr>
            <a:r>
              <a:rPr lang="en-US" sz="1000" dirty="0">
                <a:solidFill>
                  <a:srgbClr val="1B2A38"/>
                </a:solidFill>
                <a:latin typeface="Calibri" pitchFamily="34" charset="0"/>
                <a:ea typeface="Calibri" pitchFamily="34" charset="-122"/>
                <a:cs typeface="Calibri" pitchFamily="34" charset="-120"/>
              </a:rPr>
              <a:t>ReAct tool-calling &amp; keyword-overlap SOP search pattern → search_municipal_sop</a:t>
            </a:r>
            <a:endParaRPr lang="en-US" sz="1000" dirty="0"/>
          </a:p>
        </p:txBody>
      </p:sp>
      <p:sp>
        <p:nvSpPr>
          <p:cNvPr id="18" name="Shape 15"/>
          <p:cNvSpPr/>
          <p:nvPr/>
        </p:nvSpPr>
        <p:spPr>
          <a:xfrm>
            <a:off x="7360920" y="3813048"/>
            <a:ext cx="118872" cy="118872"/>
          </a:xfrm>
          <a:prstGeom prst="ellipse">
            <a:avLst/>
          </a:prstGeom>
          <a:solidFill>
            <a:srgbClr val="C97F12"/>
          </a:solidFill>
          <a:ln/>
        </p:spPr>
      </p:sp>
      <p:sp>
        <p:nvSpPr>
          <p:cNvPr id="19" name="Text 16"/>
          <p:cNvSpPr txBox="1"/>
          <p:nvPr/>
        </p:nvSpPr>
        <p:spPr>
          <a:xfrm>
            <a:off x="7607808" y="3721608"/>
            <a:ext cx="3886200" cy="274320"/>
          </a:xfrm>
          <a:prstGeom prst="rect">
            <a:avLst/>
          </a:prstGeom>
          <a:noFill/>
          <a:ln/>
        </p:spPr>
        <p:txBody>
          <a:bodyPr wrap="square" lIns="0" tIns="0" rIns="0" bIns="0" rtlCol="0" anchor="ctr"/>
          <a:lstStyle/>
          <a:p>
            <a:pPr indent="0" marL="0">
              <a:buNone/>
            </a:pPr>
            <a:r>
              <a:rPr lang="en-US" sz="1150" b="1" dirty="0">
                <a:solidFill>
                  <a:srgbClr val="0B3D62"/>
                </a:solidFill>
                <a:latin typeface="Calibri" pitchFamily="34" charset="0"/>
                <a:ea typeface="Calibri" pitchFamily="34" charset="-122"/>
                <a:cs typeface="Calibri" pitchFamily="34" charset="-120"/>
              </a:rPr>
              <a:t>Lab 3 — Supervisor / Hub-Spoke</a:t>
            </a:r>
            <a:endParaRPr lang="en-US" sz="1150" dirty="0"/>
          </a:p>
        </p:txBody>
      </p:sp>
      <p:sp>
        <p:nvSpPr>
          <p:cNvPr id="20" name="Text 17"/>
          <p:cNvSpPr txBox="1"/>
          <p:nvPr/>
        </p:nvSpPr>
        <p:spPr>
          <a:xfrm>
            <a:off x="7607808" y="3995928"/>
            <a:ext cx="3886200" cy="457200"/>
          </a:xfrm>
          <a:prstGeom prst="rect">
            <a:avLst/>
          </a:prstGeom>
          <a:noFill/>
          <a:ln/>
        </p:spPr>
        <p:txBody>
          <a:bodyPr wrap="square" lIns="0" tIns="0" rIns="0" bIns="0" rtlCol="0" anchor="ctr"/>
          <a:lstStyle/>
          <a:p>
            <a:pPr indent="0" marL="0">
              <a:lnSpc>
                <a:spcPts val="1300"/>
              </a:lnSpc>
              <a:buNone/>
            </a:pPr>
            <a:r>
              <a:rPr lang="en-US" sz="1000" dirty="0">
                <a:solidFill>
                  <a:srgbClr val="1B2A38"/>
                </a:solidFill>
                <a:latin typeface="Calibri" pitchFamily="34" charset="0"/>
                <a:ea typeface="Calibri" pitchFamily="34" charset="-122"/>
                <a:cs typeface="Calibri" pitchFamily="34" charset="-120"/>
              </a:rPr>
              <a:t>Multi-agent routing pattern → adapted to risk_advisor / grievance_handler</a:t>
            </a:r>
            <a:endParaRPr lang="en-US" sz="1000" dirty="0"/>
          </a:p>
        </p:txBody>
      </p:sp>
      <p:sp>
        <p:nvSpPr>
          <p:cNvPr id="21" name="Shape 18"/>
          <p:cNvSpPr/>
          <p:nvPr/>
        </p:nvSpPr>
        <p:spPr>
          <a:xfrm>
            <a:off x="7360920" y="4562856"/>
            <a:ext cx="118872" cy="118872"/>
          </a:xfrm>
          <a:prstGeom prst="ellipse">
            <a:avLst/>
          </a:prstGeom>
          <a:solidFill>
            <a:srgbClr val="C97F12"/>
          </a:solidFill>
          <a:ln/>
        </p:spPr>
      </p:sp>
      <p:sp>
        <p:nvSpPr>
          <p:cNvPr id="22" name="Text 19"/>
          <p:cNvSpPr txBox="1"/>
          <p:nvPr/>
        </p:nvSpPr>
        <p:spPr>
          <a:xfrm>
            <a:off x="7607808" y="4471416"/>
            <a:ext cx="3886200" cy="274320"/>
          </a:xfrm>
          <a:prstGeom prst="rect">
            <a:avLst/>
          </a:prstGeom>
          <a:noFill/>
          <a:ln/>
        </p:spPr>
        <p:txBody>
          <a:bodyPr wrap="square" lIns="0" tIns="0" rIns="0" bIns="0" rtlCol="0" anchor="ctr"/>
          <a:lstStyle/>
          <a:p>
            <a:pPr indent="0" marL="0">
              <a:buNone/>
            </a:pPr>
            <a:r>
              <a:rPr lang="en-US" sz="1150" b="1" dirty="0">
                <a:solidFill>
                  <a:srgbClr val="0B3D62"/>
                </a:solidFill>
                <a:latin typeface="Calibri" pitchFamily="34" charset="0"/>
                <a:ea typeface="Calibri" pitchFamily="34" charset="-122"/>
                <a:cs typeface="Calibri" pitchFamily="34" charset="-120"/>
              </a:rPr>
              <a:t>llm_utils.py</a:t>
            </a:r>
            <a:endParaRPr lang="en-US" sz="1150" dirty="0"/>
          </a:p>
        </p:txBody>
      </p:sp>
      <p:sp>
        <p:nvSpPr>
          <p:cNvPr id="23" name="Text 20"/>
          <p:cNvSpPr txBox="1"/>
          <p:nvPr/>
        </p:nvSpPr>
        <p:spPr>
          <a:xfrm>
            <a:off x="7607808" y="4745736"/>
            <a:ext cx="3886200" cy="457200"/>
          </a:xfrm>
          <a:prstGeom prst="rect">
            <a:avLst/>
          </a:prstGeom>
          <a:noFill/>
          <a:ln/>
        </p:spPr>
        <p:txBody>
          <a:bodyPr wrap="square" lIns="0" tIns="0" rIns="0" bIns="0" rtlCol="0" anchor="ctr"/>
          <a:lstStyle/>
          <a:p>
            <a:pPr indent="0" marL="0">
              <a:lnSpc>
                <a:spcPts val="1300"/>
              </a:lnSpc>
              <a:buNone/>
            </a:pPr>
            <a:r>
              <a:rPr lang="en-US" sz="1000" dirty="0">
                <a:solidFill>
                  <a:srgbClr val="1B2A38"/>
                </a:solidFill>
                <a:latin typeface="Calibri" pitchFamily="34" charset="0"/>
                <a:ea typeface="Calibri" pitchFamily="34" charset="-122"/>
                <a:cs typeface="Calibri" pitchFamily="34" charset="-120"/>
              </a:rPr>
              <a:t>Multi-provider LLM helper, extended here with an offline DemoLLM fallback</a:t>
            </a:r>
            <a:endParaRPr lang="en-US" sz="1000" dirty="0"/>
          </a:p>
        </p:txBody>
      </p:sp>
      <p:sp>
        <p:nvSpPr>
          <p:cNvPr id="24" name="Shape 21"/>
          <p:cNvSpPr/>
          <p:nvPr/>
        </p:nvSpPr>
        <p:spPr>
          <a:xfrm>
            <a:off x="7360920" y="5486400"/>
            <a:ext cx="4023360" cy="0"/>
          </a:xfrm>
          <a:prstGeom prst="line">
            <a:avLst/>
          </a:prstGeom>
          <a:noFill/>
          <a:ln w="12700">
            <a:solidFill>
              <a:srgbClr val="DCE6EA"/>
            </a:solidFill>
            <a:prstDash val="solid"/>
          </a:ln>
        </p:spPr>
      </p:sp>
      <p:sp>
        <p:nvSpPr>
          <p:cNvPr id="25" name="Text 22"/>
          <p:cNvSpPr txBox="1"/>
          <p:nvPr/>
        </p:nvSpPr>
        <p:spPr>
          <a:xfrm>
            <a:off x="7360920" y="5623560"/>
            <a:ext cx="4114800" cy="365760"/>
          </a:xfrm>
          <a:prstGeom prst="rect">
            <a:avLst/>
          </a:prstGeom>
          <a:noFill/>
          <a:ln/>
        </p:spPr>
        <p:txBody>
          <a:bodyPr wrap="square" lIns="0" tIns="0" rIns="0" bIns="0" rtlCol="0" anchor="ctr"/>
          <a:lstStyle/>
          <a:p>
            <a:pPr indent="0" marL="0">
              <a:lnSpc>
                <a:spcPts val="1300"/>
              </a:lnSpc>
              <a:buNone/>
            </a:pPr>
            <a:r>
              <a:rPr lang="en-US" sz="980" i="1" dirty="0">
                <a:solidFill>
                  <a:srgbClr val="5B6B77"/>
                </a:solidFill>
                <a:latin typeface="Calibri" pitchFamily="34" charset="0"/>
                <a:ea typeface="Calibri" pitchFamily="34" charset="-122"/>
                <a:cs typeface="Calibri" pitchFamily="34" charset="-120"/>
              </a:rPr>
              <a:t>Included: urbanguard_agent.py, llm_utils.py, README.md, requirements.txt — run with `python urbanguard_agent.py`.</a:t>
            </a:r>
            <a:endParaRPr lang="en-US" sz="980" dirty="0"/>
          </a:p>
        </p:txBody>
      </p:sp>
      <p:sp>
        <p:nvSpPr>
          <p:cNvPr id="26" name="Text 23"/>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7" name="Text 24"/>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DESIGN THINKING JOURNEY</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From Empathy to a Tested Prototype</a:t>
            </a:r>
            <a:endParaRPr lang="en-US" sz="3000" dirty="0"/>
          </a:p>
        </p:txBody>
      </p:sp>
      <p:sp>
        <p:nvSpPr>
          <p:cNvPr id="4" name="Shape 2"/>
          <p:cNvSpPr/>
          <p:nvPr/>
        </p:nvSpPr>
        <p:spPr>
          <a:xfrm>
            <a:off x="1188720" y="1691640"/>
            <a:ext cx="822960" cy="822960"/>
          </a:xfrm>
          <a:prstGeom prst="ellipse">
            <a:avLst/>
          </a:prstGeom>
          <a:solidFill>
            <a:srgbClr val="0B3D62"/>
          </a:solidFill>
          <a:ln/>
        </p:spPr>
      </p:sp>
      <p:pic>
        <p:nvPicPr>
          <p:cNvPr id="5" name="Image 0" descr="icons/search.png">    </p:cNvPr>
          <p:cNvPicPr>
            <a:picLocks noChangeAspect="1"/>
          </p:cNvPicPr>
          <p:nvPr/>
        </p:nvPicPr>
        <p:blipFill>
          <a:blip r:embed="rId1"/>
          <a:stretch>
            <a:fillRect/>
          </a:stretch>
        </p:blipFill>
        <p:spPr>
          <a:xfrm>
            <a:off x="1373886" y="1876806"/>
            <a:ext cx="452628" cy="452628"/>
          </a:xfrm>
          <a:prstGeom prst="rect">
            <a:avLst/>
          </a:prstGeom>
        </p:spPr>
      </p:pic>
      <p:sp>
        <p:nvSpPr>
          <p:cNvPr id="6" name="Text 3"/>
          <p:cNvSpPr txBox="1"/>
          <p:nvPr/>
        </p:nvSpPr>
        <p:spPr>
          <a:xfrm>
            <a:off x="548640" y="2651760"/>
            <a:ext cx="2103120" cy="365760"/>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Empathize</a:t>
            </a:r>
            <a:endParaRPr lang="en-US" sz="1400" dirty="0"/>
          </a:p>
        </p:txBody>
      </p:sp>
      <p:sp>
        <p:nvSpPr>
          <p:cNvPr id="7" name="Text 4"/>
          <p:cNvSpPr txBox="1"/>
          <p:nvPr/>
        </p:nvSpPr>
        <p:spPr>
          <a:xfrm>
            <a:off x="621792" y="3035808"/>
            <a:ext cx="1956816" cy="1188720"/>
          </a:xfrm>
          <a:prstGeom prst="rect">
            <a:avLst/>
          </a:prstGeom>
          <a:noFill/>
          <a:ln/>
        </p:spPr>
        <p:txBody>
          <a:bodyPr wrap="square" lIns="0" tIns="0" rIns="0" bIns="0" rtlCol="0" anchor="ctr"/>
          <a:lstStyle/>
          <a:p>
            <a:pPr algn="ctr" indent="0" marL="0">
              <a:lnSpc>
                <a:spcPts val="1400"/>
              </a:lnSpc>
              <a:buNone/>
            </a:pPr>
            <a:r>
              <a:rPr lang="en-US" sz="1050" dirty="0">
                <a:solidFill>
                  <a:srgbClr val="5B6B77"/>
                </a:solidFill>
                <a:latin typeface="Calibri" pitchFamily="34" charset="0"/>
                <a:ea typeface="Calibri" pitchFamily="34" charset="-122"/>
                <a:cs typeface="Calibri" pitchFamily="34" charset="-120"/>
              </a:rPr>
              <a:t>Talked through resident &amp; ward-officer pain points with recurring floods</a:t>
            </a:r>
            <a:endParaRPr lang="en-US" sz="1050" dirty="0"/>
          </a:p>
        </p:txBody>
      </p:sp>
      <p:sp>
        <p:nvSpPr>
          <p:cNvPr id="8" name="Text 5"/>
          <p:cNvSpPr txBox="1"/>
          <p:nvPr/>
        </p:nvSpPr>
        <p:spPr>
          <a:xfrm>
            <a:off x="2606040" y="1874520"/>
            <a:ext cx="320040" cy="457200"/>
          </a:xfrm>
          <a:prstGeom prst="rect">
            <a:avLst/>
          </a:prstGeom>
          <a:noFill/>
          <a:ln/>
        </p:spPr>
        <p:txBody>
          <a:bodyPr wrap="square" lIns="0" tIns="0" rIns="0" bIns="0" rtlCol="0" anchor="ctr"/>
          <a:lstStyle/>
          <a:p>
            <a:pPr algn="ctr" indent="0" marL="0">
              <a:buNone/>
            </a:pPr>
            <a:r>
              <a:rPr lang="en-US" sz="2000" b="1" dirty="0">
                <a:solidFill>
                  <a:srgbClr val="C7D2D9"/>
                </a:solidFill>
              </a:rPr>
              <a:t>→</a:t>
            </a:r>
            <a:endParaRPr lang="en-US" sz="2000" dirty="0"/>
          </a:p>
        </p:txBody>
      </p:sp>
      <p:sp>
        <p:nvSpPr>
          <p:cNvPr id="9" name="Shape 6"/>
          <p:cNvSpPr/>
          <p:nvPr/>
        </p:nvSpPr>
        <p:spPr>
          <a:xfrm>
            <a:off x="3429000" y="1691640"/>
            <a:ext cx="822960" cy="822960"/>
          </a:xfrm>
          <a:prstGeom prst="ellipse">
            <a:avLst/>
          </a:prstGeom>
          <a:solidFill>
            <a:srgbClr val="0B3D62"/>
          </a:solidFill>
          <a:ln/>
        </p:spPr>
      </p:sp>
      <p:pic>
        <p:nvPicPr>
          <p:cNvPr id="10" name="Image 1" descr="icons/bullseye.png">    </p:cNvPr>
          <p:cNvPicPr>
            <a:picLocks noChangeAspect="1"/>
          </p:cNvPicPr>
          <p:nvPr/>
        </p:nvPicPr>
        <p:blipFill>
          <a:blip r:embed="rId2"/>
          <a:stretch>
            <a:fillRect/>
          </a:stretch>
        </p:blipFill>
        <p:spPr>
          <a:xfrm>
            <a:off x="3614166" y="1876806"/>
            <a:ext cx="452628" cy="452628"/>
          </a:xfrm>
          <a:prstGeom prst="rect">
            <a:avLst/>
          </a:prstGeom>
        </p:spPr>
      </p:pic>
      <p:sp>
        <p:nvSpPr>
          <p:cNvPr id="11" name="Text 7"/>
          <p:cNvSpPr txBox="1"/>
          <p:nvPr/>
        </p:nvSpPr>
        <p:spPr>
          <a:xfrm>
            <a:off x="2788920" y="2651760"/>
            <a:ext cx="2103120" cy="365760"/>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Define</a:t>
            </a:r>
            <a:endParaRPr lang="en-US" sz="1400" dirty="0"/>
          </a:p>
        </p:txBody>
      </p:sp>
      <p:sp>
        <p:nvSpPr>
          <p:cNvPr id="12" name="Text 8"/>
          <p:cNvSpPr txBox="1"/>
          <p:nvPr/>
        </p:nvSpPr>
        <p:spPr>
          <a:xfrm>
            <a:off x="2862072" y="3035808"/>
            <a:ext cx="1956816" cy="1188720"/>
          </a:xfrm>
          <a:prstGeom prst="rect">
            <a:avLst/>
          </a:prstGeom>
          <a:noFill/>
          <a:ln/>
        </p:spPr>
        <p:txBody>
          <a:bodyPr wrap="square" lIns="0" tIns="0" rIns="0" bIns="0" rtlCol="0" anchor="ctr"/>
          <a:lstStyle/>
          <a:p>
            <a:pPr algn="ctr" indent="0" marL="0">
              <a:lnSpc>
                <a:spcPts val="1400"/>
              </a:lnSpc>
              <a:buNone/>
            </a:pPr>
            <a:r>
              <a:rPr lang="en-US" sz="1050" dirty="0">
                <a:solidFill>
                  <a:srgbClr val="5B6B77"/>
                </a:solidFill>
                <a:latin typeface="Calibri" pitchFamily="34" charset="0"/>
                <a:ea typeface="Calibri" pitchFamily="34" charset="-122"/>
                <a:cs typeface="Calibri" pitchFamily="34" charset="-120"/>
              </a:rPr>
              <a:t>Framed the problem statement and named target users &amp; data gaps</a:t>
            </a:r>
            <a:endParaRPr lang="en-US" sz="1050" dirty="0"/>
          </a:p>
        </p:txBody>
      </p:sp>
      <p:sp>
        <p:nvSpPr>
          <p:cNvPr id="13" name="Text 9"/>
          <p:cNvSpPr txBox="1"/>
          <p:nvPr/>
        </p:nvSpPr>
        <p:spPr>
          <a:xfrm>
            <a:off x="4846320" y="1874520"/>
            <a:ext cx="320040" cy="457200"/>
          </a:xfrm>
          <a:prstGeom prst="rect">
            <a:avLst/>
          </a:prstGeom>
          <a:noFill/>
          <a:ln/>
        </p:spPr>
        <p:txBody>
          <a:bodyPr wrap="square" lIns="0" tIns="0" rIns="0" bIns="0" rtlCol="0" anchor="ctr"/>
          <a:lstStyle/>
          <a:p>
            <a:pPr algn="ctr" indent="0" marL="0">
              <a:buNone/>
            </a:pPr>
            <a:r>
              <a:rPr lang="en-US" sz="2000" b="1" dirty="0">
                <a:solidFill>
                  <a:srgbClr val="C7D2D9"/>
                </a:solidFill>
              </a:rPr>
              <a:t>→</a:t>
            </a:r>
            <a:endParaRPr lang="en-US" sz="2000" dirty="0"/>
          </a:p>
        </p:txBody>
      </p:sp>
      <p:sp>
        <p:nvSpPr>
          <p:cNvPr id="14" name="Shape 10"/>
          <p:cNvSpPr/>
          <p:nvPr/>
        </p:nvSpPr>
        <p:spPr>
          <a:xfrm>
            <a:off x="5669280" y="1691640"/>
            <a:ext cx="822960" cy="822960"/>
          </a:xfrm>
          <a:prstGeom prst="ellipse">
            <a:avLst/>
          </a:prstGeom>
          <a:solidFill>
            <a:srgbClr val="0B3D62"/>
          </a:solidFill>
          <a:ln/>
        </p:spPr>
      </p:sp>
      <p:pic>
        <p:nvPicPr>
          <p:cNvPr id="15" name="Image 2" descr="icons/lightbulb.png">    </p:cNvPr>
          <p:cNvPicPr>
            <a:picLocks noChangeAspect="1"/>
          </p:cNvPicPr>
          <p:nvPr/>
        </p:nvPicPr>
        <p:blipFill>
          <a:blip r:embed="rId3"/>
          <a:stretch>
            <a:fillRect/>
          </a:stretch>
        </p:blipFill>
        <p:spPr>
          <a:xfrm>
            <a:off x="5854446" y="1876806"/>
            <a:ext cx="452628" cy="452628"/>
          </a:xfrm>
          <a:prstGeom prst="rect">
            <a:avLst/>
          </a:prstGeom>
        </p:spPr>
      </p:pic>
      <p:sp>
        <p:nvSpPr>
          <p:cNvPr id="16" name="Text 11"/>
          <p:cNvSpPr txBox="1"/>
          <p:nvPr/>
        </p:nvSpPr>
        <p:spPr>
          <a:xfrm>
            <a:off x="5029200" y="2651760"/>
            <a:ext cx="2103120" cy="365760"/>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Ideate</a:t>
            </a:r>
            <a:endParaRPr lang="en-US" sz="1400" dirty="0"/>
          </a:p>
        </p:txBody>
      </p:sp>
      <p:sp>
        <p:nvSpPr>
          <p:cNvPr id="17" name="Text 12"/>
          <p:cNvSpPr txBox="1"/>
          <p:nvPr/>
        </p:nvSpPr>
        <p:spPr>
          <a:xfrm>
            <a:off x="5102352" y="3035808"/>
            <a:ext cx="1956816" cy="1188720"/>
          </a:xfrm>
          <a:prstGeom prst="rect">
            <a:avLst/>
          </a:prstGeom>
          <a:noFill/>
          <a:ln/>
        </p:spPr>
        <p:txBody>
          <a:bodyPr wrap="square" lIns="0" tIns="0" rIns="0" bIns="0" rtlCol="0" anchor="ctr"/>
          <a:lstStyle/>
          <a:p>
            <a:pPr algn="ctr" indent="0" marL="0">
              <a:lnSpc>
                <a:spcPts val="1400"/>
              </a:lnSpc>
              <a:buNone/>
            </a:pPr>
            <a:r>
              <a:rPr lang="en-US" sz="1050" dirty="0">
                <a:solidFill>
                  <a:srgbClr val="5B6B77"/>
                </a:solidFill>
                <a:latin typeface="Calibri" pitchFamily="34" charset="0"/>
                <a:ea typeface="Calibri" pitchFamily="34" charset="-122"/>
                <a:cs typeface="Calibri" pitchFamily="34" charset="-120"/>
              </a:rPr>
              <a:t>Brainstormed prediction + assistant options; picked what was feasible in scope</a:t>
            </a:r>
            <a:endParaRPr lang="en-US" sz="1050" dirty="0"/>
          </a:p>
        </p:txBody>
      </p:sp>
      <p:sp>
        <p:nvSpPr>
          <p:cNvPr id="18" name="Text 13"/>
          <p:cNvSpPr txBox="1"/>
          <p:nvPr/>
        </p:nvSpPr>
        <p:spPr>
          <a:xfrm>
            <a:off x="7086600" y="1874520"/>
            <a:ext cx="320040" cy="457200"/>
          </a:xfrm>
          <a:prstGeom prst="rect">
            <a:avLst/>
          </a:prstGeom>
          <a:noFill/>
          <a:ln/>
        </p:spPr>
        <p:txBody>
          <a:bodyPr wrap="square" lIns="0" tIns="0" rIns="0" bIns="0" rtlCol="0" anchor="ctr"/>
          <a:lstStyle/>
          <a:p>
            <a:pPr algn="ctr" indent="0" marL="0">
              <a:buNone/>
            </a:pPr>
            <a:r>
              <a:rPr lang="en-US" sz="2000" b="1" dirty="0">
                <a:solidFill>
                  <a:srgbClr val="C7D2D9"/>
                </a:solidFill>
              </a:rPr>
              <a:t>→</a:t>
            </a:r>
            <a:endParaRPr lang="en-US" sz="2000" dirty="0"/>
          </a:p>
        </p:txBody>
      </p:sp>
      <p:sp>
        <p:nvSpPr>
          <p:cNvPr id="19" name="Shape 14"/>
          <p:cNvSpPr/>
          <p:nvPr/>
        </p:nvSpPr>
        <p:spPr>
          <a:xfrm>
            <a:off x="7909560" y="1691640"/>
            <a:ext cx="822960" cy="822960"/>
          </a:xfrm>
          <a:prstGeom prst="ellipse">
            <a:avLst/>
          </a:prstGeom>
          <a:solidFill>
            <a:srgbClr val="0B3D62"/>
          </a:solidFill>
          <a:ln/>
        </p:spPr>
      </p:sp>
      <p:pic>
        <p:nvPicPr>
          <p:cNvPr id="20" name="Image 3" descr="icons/sitemap.png">    </p:cNvPr>
          <p:cNvPicPr>
            <a:picLocks noChangeAspect="1"/>
          </p:cNvPicPr>
          <p:nvPr/>
        </p:nvPicPr>
        <p:blipFill>
          <a:blip r:embed="rId4"/>
          <a:stretch>
            <a:fillRect/>
          </a:stretch>
        </p:blipFill>
        <p:spPr>
          <a:xfrm>
            <a:off x="8094726" y="1876806"/>
            <a:ext cx="452628" cy="452628"/>
          </a:xfrm>
          <a:prstGeom prst="rect">
            <a:avLst/>
          </a:prstGeom>
        </p:spPr>
      </p:pic>
      <p:sp>
        <p:nvSpPr>
          <p:cNvPr id="21" name="Text 15"/>
          <p:cNvSpPr txBox="1"/>
          <p:nvPr/>
        </p:nvSpPr>
        <p:spPr>
          <a:xfrm>
            <a:off x="7269480" y="2651760"/>
            <a:ext cx="2103120" cy="365760"/>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Prototype</a:t>
            </a:r>
            <a:endParaRPr lang="en-US" sz="1400" dirty="0"/>
          </a:p>
        </p:txBody>
      </p:sp>
      <p:sp>
        <p:nvSpPr>
          <p:cNvPr id="22" name="Text 16"/>
          <p:cNvSpPr txBox="1"/>
          <p:nvPr/>
        </p:nvSpPr>
        <p:spPr>
          <a:xfrm>
            <a:off x="7342632" y="3035808"/>
            <a:ext cx="1956816" cy="1188720"/>
          </a:xfrm>
          <a:prstGeom prst="rect">
            <a:avLst/>
          </a:prstGeom>
          <a:noFill/>
          <a:ln/>
        </p:spPr>
        <p:txBody>
          <a:bodyPr wrap="square" lIns="0" tIns="0" rIns="0" bIns="0" rtlCol="0" anchor="ctr"/>
          <a:lstStyle/>
          <a:p>
            <a:pPr algn="ctr" indent="0" marL="0">
              <a:lnSpc>
                <a:spcPts val="1400"/>
              </a:lnSpc>
              <a:buNone/>
            </a:pPr>
            <a:r>
              <a:rPr lang="en-US" sz="1050" dirty="0">
                <a:solidFill>
                  <a:srgbClr val="5B6B77"/>
                </a:solidFill>
                <a:latin typeface="Calibri" pitchFamily="34" charset="0"/>
                <a:ea typeface="Calibri" pitchFamily="34" charset="-122"/>
                <a:cs typeface="Calibri" pitchFamily="34" charset="-120"/>
              </a:rPr>
              <a:t>Built prompt logic, RAG pipeline and agent workflow in IBM BOB</a:t>
            </a:r>
            <a:endParaRPr lang="en-US" sz="1050" dirty="0"/>
          </a:p>
        </p:txBody>
      </p:sp>
      <p:sp>
        <p:nvSpPr>
          <p:cNvPr id="23" name="Text 17"/>
          <p:cNvSpPr txBox="1"/>
          <p:nvPr/>
        </p:nvSpPr>
        <p:spPr>
          <a:xfrm>
            <a:off x="9326880" y="1874520"/>
            <a:ext cx="320040" cy="457200"/>
          </a:xfrm>
          <a:prstGeom prst="rect">
            <a:avLst/>
          </a:prstGeom>
          <a:noFill/>
          <a:ln/>
        </p:spPr>
        <p:txBody>
          <a:bodyPr wrap="square" lIns="0" tIns="0" rIns="0" bIns="0" rtlCol="0" anchor="ctr"/>
          <a:lstStyle/>
          <a:p>
            <a:pPr algn="ctr" indent="0" marL="0">
              <a:buNone/>
            </a:pPr>
            <a:r>
              <a:rPr lang="en-US" sz="2000" b="1" dirty="0">
                <a:solidFill>
                  <a:srgbClr val="C7D2D9"/>
                </a:solidFill>
              </a:rPr>
              <a:t>→</a:t>
            </a:r>
            <a:endParaRPr lang="en-US" sz="2000" dirty="0"/>
          </a:p>
        </p:txBody>
      </p:sp>
      <p:sp>
        <p:nvSpPr>
          <p:cNvPr id="24" name="Shape 18"/>
          <p:cNvSpPr/>
          <p:nvPr/>
        </p:nvSpPr>
        <p:spPr>
          <a:xfrm>
            <a:off x="10149840" y="1691640"/>
            <a:ext cx="822960" cy="822960"/>
          </a:xfrm>
          <a:prstGeom prst="ellipse">
            <a:avLst/>
          </a:prstGeom>
          <a:solidFill>
            <a:srgbClr val="C97F12"/>
          </a:solidFill>
          <a:ln/>
        </p:spPr>
      </p:sp>
      <p:pic>
        <p:nvPicPr>
          <p:cNvPr id="25" name="Image 4" descr="icons/clipboard.png">    </p:cNvPr>
          <p:cNvPicPr>
            <a:picLocks noChangeAspect="1"/>
          </p:cNvPicPr>
          <p:nvPr/>
        </p:nvPicPr>
        <p:blipFill>
          <a:blip r:embed="rId5"/>
          <a:stretch>
            <a:fillRect/>
          </a:stretch>
        </p:blipFill>
        <p:spPr>
          <a:xfrm>
            <a:off x="10335006" y="1876806"/>
            <a:ext cx="452628" cy="452628"/>
          </a:xfrm>
          <a:prstGeom prst="rect">
            <a:avLst/>
          </a:prstGeom>
        </p:spPr>
      </p:pic>
      <p:sp>
        <p:nvSpPr>
          <p:cNvPr id="26" name="Text 19"/>
          <p:cNvSpPr txBox="1"/>
          <p:nvPr/>
        </p:nvSpPr>
        <p:spPr>
          <a:xfrm>
            <a:off x="9509760" y="2651760"/>
            <a:ext cx="2103120" cy="365760"/>
          </a:xfrm>
          <a:prstGeom prst="rect">
            <a:avLst/>
          </a:prstGeom>
          <a:noFill/>
          <a:ln/>
        </p:spPr>
        <p:txBody>
          <a:bodyPr wrap="square" lIns="0" tIns="0" rIns="0" bIns="0" rtlCol="0" anchor="ctr"/>
          <a:lstStyle/>
          <a:p>
            <a:pPr algn="ctr" indent="0" marL="0">
              <a:buNone/>
            </a:pPr>
            <a:r>
              <a:rPr lang="en-US" sz="1400" b="1" dirty="0">
                <a:solidFill>
                  <a:srgbClr val="0B3D62"/>
                </a:solidFill>
                <a:latin typeface="Calibri" pitchFamily="34" charset="0"/>
                <a:ea typeface="Calibri" pitchFamily="34" charset="-122"/>
                <a:cs typeface="Calibri" pitchFamily="34" charset="-120"/>
              </a:rPr>
              <a:t>Test &amp; Refine</a:t>
            </a:r>
            <a:endParaRPr lang="en-US" sz="1400" dirty="0"/>
          </a:p>
        </p:txBody>
      </p:sp>
      <p:sp>
        <p:nvSpPr>
          <p:cNvPr id="27" name="Text 20"/>
          <p:cNvSpPr txBox="1"/>
          <p:nvPr/>
        </p:nvSpPr>
        <p:spPr>
          <a:xfrm>
            <a:off x="9582912" y="3035808"/>
            <a:ext cx="1956816" cy="1188720"/>
          </a:xfrm>
          <a:prstGeom prst="rect">
            <a:avLst/>
          </a:prstGeom>
          <a:noFill/>
          <a:ln/>
        </p:spPr>
        <p:txBody>
          <a:bodyPr wrap="square" lIns="0" tIns="0" rIns="0" bIns="0" rtlCol="0" anchor="ctr"/>
          <a:lstStyle/>
          <a:p>
            <a:pPr algn="ctr" indent="0" marL="0">
              <a:lnSpc>
                <a:spcPts val="1400"/>
              </a:lnSpc>
              <a:buNone/>
            </a:pPr>
            <a:r>
              <a:rPr lang="en-US" sz="1050" dirty="0">
                <a:solidFill>
                  <a:srgbClr val="5B6B77"/>
                </a:solidFill>
                <a:latin typeface="Calibri" pitchFamily="34" charset="0"/>
                <a:ea typeface="Calibri" pitchFamily="34" charset="-122"/>
                <a:cs typeface="Calibri" pitchFamily="34" charset="-120"/>
              </a:rPr>
              <a:t>Ran sample cases, took mentor feedback, tightened classification rules</a:t>
            </a:r>
            <a:endParaRPr lang="en-US" sz="1050" dirty="0"/>
          </a:p>
        </p:txBody>
      </p:sp>
      <p:sp>
        <p:nvSpPr>
          <p:cNvPr id="28" name="Shape 21"/>
          <p:cNvSpPr/>
          <p:nvPr/>
        </p:nvSpPr>
        <p:spPr>
          <a:xfrm>
            <a:off x="548640" y="4572000"/>
            <a:ext cx="11064240" cy="1600200"/>
          </a:xfrm>
          <a:prstGeom prst="roundRect">
            <a:avLst>
              <a:gd name="adj" fmla="val 4571"/>
            </a:avLst>
          </a:prstGeom>
          <a:solidFill>
            <a:srgbClr val="F5F9FA"/>
          </a:solidFill>
          <a:ln/>
        </p:spPr>
      </p:sp>
      <p:sp>
        <p:nvSpPr>
          <p:cNvPr id="29" name="Shape 22"/>
          <p:cNvSpPr/>
          <p:nvPr/>
        </p:nvSpPr>
        <p:spPr>
          <a:xfrm>
            <a:off x="868680" y="4846320"/>
            <a:ext cx="594360" cy="594360"/>
          </a:xfrm>
          <a:prstGeom prst="ellipse">
            <a:avLst/>
          </a:prstGeom>
          <a:solidFill>
            <a:srgbClr val="1C7293"/>
          </a:solidFill>
          <a:ln/>
        </p:spPr>
      </p:sp>
      <p:pic>
        <p:nvPicPr>
          <p:cNvPr id="30" name="Image 5" descr="icons/flag.png">    </p:cNvPr>
          <p:cNvPicPr>
            <a:picLocks noChangeAspect="1"/>
          </p:cNvPicPr>
          <p:nvPr/>
        </p:nvPicPr>
        <p:blipFill>
          <a:blip r:embed="rId6"/>
          <a:stretch>
            <a:fillRect/>
          </a:stretch>
        </p:blipFill>
        <p:spPr>
          <a:xfrm>
            <a:off x="1002411" y="4980051"/>
            <a:ext cx="326898" cy="326898"/>
          </a:xfrm>
          <a:prstGeom prst="rect">
            <a:avLst/>
          </a:prstGeom>
        </p:spPr>
      </p:pic>
      <p:sp>
        <p:nvSpPr>
          <p:cNvPr id="31" name="Text 23"/>
          <p:cNvSpPr txBox="1"/>
          <p:nvPr/>
        </p:nvSpPr>
        <p:spPr>
          <a:xfrm>
            <a:off x="1645920" y="4846320"/>
            <a:ext cx="9692640" cy="365760"/>
          </a:xfrm>
          <a:prstGeom prst="rect">
            <a:avLst/>
          </a:prstGeom>
          <a:noFill/>
          <a:ln/>
        </p:spPr>
        <p:txBody>
          <a:bodyPr wrap="square" lIns="0" tIns="0" rIns="0" bIns="0" rtlCol="0" anchor="ctr"/>
          <a:lstStyle/>
          <a:p>
            <a:pPr indent="0" marL="0">
              <a:buNone/>
            </a:pPr>
            <a:r>
              <a:rPr lang="en-US" sz="1400" b="1" dirty="0">
                <a:solidFill>
                  <a:srgbClr val="0B3D62"/>
                </a:solidFill>
                <a:latin typeface="Calibri" pitchFamily="34" charset="0"/>
                <a:ea typeface="Calibri" pitchFamily="34" charset="-122"/>
                <a:cs typeface="Calibri" pitchFamily="34" charset="-120"/>
              </a:rPr>
              <a:t>What testing changed</a:t>
            </a:r>
            <a:endParaRPr lang="en-US" sz="1400" dirty="0"/>
          </a:p>
        </p:txBody>
      </p:sp>
      <p:sp>
        <p:nvSpPr>
          <p:cNvPr id="32" name="Text 24"/>
          <p:cNvSpPr txBox="1"/>
          <p:nvPr/>
        </p:nvSpPr>
        <p:spPr>
          <a:xfrm>
            <a:off x="1645920" y="5239512"/>
            <a:ext cx="9601200" cy="868680"/>
          </a:xfrm>
          <a:prstGeom prst="rect">
            <a:avLst/>
          </a:prstGeom>
          <a:noFill/>
          <a:ln/>
        </p:spPr>
        <p:txBody>
          <a:bodyPr wrap="square" lIns="0" tIns="0" rIns="0" bIns="0" rtlCol="0" anchor="ctr"/>
          <a:lstStyle/>
          <a:p>
            <a:pPr indent="0" marL="0">
              <a:lnSpc>
                <a:spcPts val="1700"/>
              </a:lnSpc>
              <a:buNone/>
            </a:pPr>
            <a:r>
              <a:rPr lang="en-US" sz="1200" dirty="0">
                <a:solidFill>
                  <a:srgbClr val="5B6B77"/>
                </a:solidFill>
                <a:latin typeface="Calibri" pitchFamily="34" charset="0"/>
                <a:ea typeface="Calibri" pitchFamily="34" charset="-122"/>
                <a:cs typeface="Calibri" pitchFamily="34" charset="-120"/>
              </a:rPr>
              <a:t>Early test cases showed the assistant sometimes under-classified severity for markets and schools. The prompt and routing rules were refined to weight location type alongside rainfall/risk data, and a human-review flag was added for any ticket the agent marks High severity, so no automated action is final.</a:t>
            </a:r>
            <a:endParaRPr lang="en-US" sz="1200" dirty="0"/>
          </a:p>
        </p:txBody>
      </p:sp>
      <p:sp>
        <p:nvSpPr>
          <p:cNvPr id="33" name="Text 25"/>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34" name="Text 26"/>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C97F12"/>
                </a:solidFill>
                <a:latin typeface="Calibri" pitchFamily="34" charset="0"/>
                <a:ea typeface="Calibri" pitchFamily="34" charset="-122"/>
                <a:cs typeface="Calibri" pitchFamily="34" charset="-120"/>
              </a:rPr>
              <a:t>RESPONSIBLE AI CONSIDERATIONS</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Fairness, Transparency, Ethics &amp; Privacy</a:t>
            </a:r>
            <a:endParaRPr lang="en-US" sz="3000" dirty="0"/>
          </a:p>
        </p:txBody>
      </p:sp>
      <p:sp>
        <p:nvSpPr>
          <p:cNvPr id="4" name="Shape 2"/>
          <p:cNvSpPr/>
          <p:nvPr/>
        </p:nvSpPr>
        <p:spPr>
          <a:xfrm>
            <a:off x="548640" y="1554480"/>
            <a:ext cx="2624328" cy="4480560"/>
          </a:xfrm>
          <a:prstGeom prst="roundRect">
            <a:avLst>
              <a:gd name="adj" fmla="val 2787"/>
            </a:avLst>
          </a:prstGeom>
          <a:solidFill>
            <a:srgbClr val="F5F9FA"/>
          </a:solidFill>
          <a:ln/>
        </p:spPr>
      </p:sp>
      <p:sp>
        <p:nvSpPr>
          <p:cNvPr id="5" name="Shape 3"/>
          <p:cNvSpPr/>
          <p:nvPr/>
        </p:nvSpPr>
        <p:spPr>
          <a:xfrm>
            <a:off x="804672" y="1828800"/>
            <a:ext cx="685800" cy="685800"/>
          </a:xfrm>
          <a:prstGeom prst="ellipse">
            <a:avLst/>
          </a:prstGeom>
          <a:solidFill>
            <a:srgbClr val="1C7293"/>
          </a:solidFill>
          <a:ln/>
        </p:spPr>
      </p:sp>
      <p:pic>
        <p:nvPicPr>
          <p:cNvPr id="6" name="Image 0" descr="icons/balance.png">    </p:cNvPr>
          <p:cNvPicPr>
            <a:picLocks noChangeAspect="1"/>
          </p:cNvPicPr>
          <p:nvPr/>
        </p:nvPicPr>
        <p:blipFill>
          <a:blip r:embed="rId1"/>
          <a:stretch>
            <a:fillRect/>
          </a:stretch>
        </p:blipFill>
        <p:spPr>
          <a:xfrm>
            <a:off x="958977" y="1983105"/>
            <a:ext cx="377190" cy="377190"/>
          </a:xfrm>
          <a:prstGeom prst="rect">
            <a:avLst/>
          </a:prstGeom>
        </p:spPr>
      </p:pic>
      <p:sp>
        <p:nvSpPr>
          <p:cNvPr id="7" name="Text 4"/>
          <p:cNvSpPr txBox="1"/>
          <p:nvPr/>
        </p:nvSpPr>
        <p:spPr>
          <a:xfrm>
            <a:off x="777240" y="2697480"/>
            <a:ext cx="2194560" cy="365760"/>
          </a:xfrm>
          <a:prstGeom prst="rect">
            <a:avLst/>
          </a:prstGeom>
          <a:noFill/>
          <a:ln/>
        </p:spPr>
        <p:txBody>
          <a:bodyPr wrap="square" lIns="0" tIns="0" rIns="0" bIns="0" rtlCol="0" anchor="ctr"/>
          <a:lstStyle/>
          <a:p>
            <a:pPr indent="0" marL="0">
              <a:buNone/>
            </a:pPr>
            <a:r>
              <a:rPr lang="en-US" sz="1500" b="1" dirty="0">
                <a:solidFill>
                  <a:srgbClr val="0B3D62"/>
                </a:solidFill>
                <a:latin typeface="Cambria" pitchFamily="34" charset="0"/>
                <a:ea typeface="Cambria" pitchFamily="34" charset="-122"/>
                <a:cs typeface="Cambria" pitchFamily="34" charset="-120"/>
              </a:rPr>
              <a:t>Fairness</a:t>
            </a:r>
            <a:endParaRPr lang="en-US" sz="1500" dirty="0"/>
          </a:p>
        </p:txBody>
      </p:sp>
      <p:sp>
        <p:nvSpPr>
          <p:cNvPr id="8" name="Text 5"/>
          <p:cNvSpPr txBox="1"/>
          <p:nvPr/>
        </p:nvSpPr>
        <p:spPr>
          <a:xfrm>
            <a:off x="777240" y="3108960"/>
            <a:ext cx="2194560" cy="2651760"/>
          </a:xfrm>
          <a:prstGeom prst="rect">
            <a:avLst/>
          </a:prstGeom>
          <a:noFill/>
          <a:ln/>
        </p:spPr>
        <p:txBody>
          <a:bodyPr wrap="square" lIns="0" tIns="0" rIns="0" bIns="0" rtlCol="0" anchor="ctr"/>
          <a:lstStyle/>
          <a:p>
            <a:pPr indent="0" marL="0">
              <a:lnSpc>
                <a:spcPts val="1500"/>
              </a:lnSpc>
              <a:buNone/>
            </a:pPr>
            <a:r>
              <a:rPr lang="en-US" sz="1100" dirty="0">
                <a:solidFill>
                  <a:srgbClr val="1B2A38"/>
                </a:solidFill>
                <a:latin typeface="Calibri" pitchFamily="34" charset="0"/>
                <a:ea typeface="Calibri" pitchFamily="34" charset="-122"/>
                <a:cs typeface="Calibri" pitchFamily="34" charset="-120"/>
              </a:rPr>
              <a:t>The risk model is checked against ward-level outcomes so it does not systematically under-prioritize lower-income or data-sparse wards.</a:t>
            </a:r>
            <a:endParaRPr lang="en-US" sz="1100" dirty="0"/>
          </a:p>
        </p:txBody>
      </p:sp>
      <p:sp>
        <p:nvSpPr>
          <p:cNvPr id="9" name="Shape 6"/>
          <p:cNvSpPr/>
          <p:nvPr/>
        </p:nvSpPr>
        <p:spPr>
          <a:xfrm>
            <a:off x="3319272" y="1554480"/>
            <a:ext cx="2624328" cy="4480560"/>
          </a:xfrm>
          <a:prstGeom prst="roundRect">
            <a:avLst>
              <a:gd name="adj" fmla="val 2787"/>
            </a:avLst>
          </a:prstGeom>
          <a:solidFill>
            <a:srgbClr val="F5F9FA"/>
          </a:solidFill>
          <a:ln/>
        </p:spPr>
      </p:sp>
      <p:sp>
        <p:nvSpPr>
          <p:cNvPr id="10" name="Shape 7"/>
          <p:cNvSpPr/>
          <p:nvPr/>
        </p:nvSpPr>
        <p:spPr>
          <a:xfrm>
            <a:off x="3575304" y="1828800"/>
            <a:ext cx="685800" cy="685800"/>
          </a:xfrm>
          <a:prstGeom prst="ellipse">
            <a:avLst/>
          </a:prstGeom>
          <a:solidFill>
            <a:srgbClr val="0B3D62"/>
          </a:solidFill>
          <a:ln/>
        </p:spPr>
      </p:sp>
      <p:pic>
        <p:nvPicPr>
          <p:cNvPr id="11" name="Image 1" descr="icons/eye.png">    </p:cNvPr>
          <p:cNvPicPr>
            <a:picLocks noChangeAspect="1"/>
          </p:cNvPicPr>
          <p:nvPr/>
        </p:nvPicPr>
        <p:blipFill>
          <a:blip r:embed="rId2"/>
          <a:stretch>
            <a:fillRect/>
          </a:stretch>
        </p:blipFill>
        <p:spPr>
          <a:xfrm>
            <a:off x="3729609" y="1983105"/>
            <a:ext cx="377190" cy="377190"/>
          </a:xfrm>
          <a:prstGeom prst="rect">
            <a:avLst/>
          </a:prstGeom>
        </p:spPr>
      </p:pic>
      <p:sp>
        <p:nvSpPr>
          <p:cNvPr id="12" name="Text 8"/>
          <p:cNvSpPr txBox="1"/>
          <p:nvPr/>
        </p:nvSpPr>
        <p:spPr>
          <a:xfrm>
            <a:off x="3547872" y="2697480"/>
            <a:ext cx="2194560" cy="365760"/>
          </a:xfrm>
          <a:prstGeom prst="rect">
            <a:avLst/>
          </a:prstGeom>
          <a:noFill/>
          <a:ln/>
        </p:spPr>
        <p:txBody>
          <a:bodyPr wrap="square" lIns="0" tIns="0" rIns="0" bIns="0" rtlCol="0" anchor="ctr"/>
          <a:lstStyle/>
          <a:p>
            <a:pPr indent="0" marL="0">
              <a:buNone/>
            </a:pPr>
            <a:r>
              <a:rPr lang="en-US" sz="1500" b="1" dirty="0">
                <a:solidFill>
                  <a:srgbClr val="0B3D62"/>
                </a:solidFill>
                <a:latin typeface="Cambria" pitchFamily="34" charset="0"/>
                <a:ea typeface="Cambria" pitchFamily="34" charset="-122"/>
                <a:cs typeface="Cambria" pitchFamily="34" charset="-120"/>
              </a:rPr>
              <a:t>Transparency</a:t>
            </a:r>
            <a:endParaRPr lang="en-US" sz="1500" dirty="0"/>
          </a:p>
        </p:txBody>
      </p:sp>
      <p:sp>
        <p:nvSpPr>
          <p:cNvPr id="13" name="Text 9"/>
          <p:cNvSpPr txBox="1"/>
          <p:nvPr/>
        </p:nvSpPr>
        <p:spPr>
          <a:xfrm>
            <a:off x="3547872" y="3108960"/>
            <a:ext cx="2194560" cy="2651760"/>
          </a:xfrm>
          <a:prstGeom prst="rect">
            <a:avLst/>
          </a:prstGeom>
          <a:noFill/>
          <a:ln/>
        </p:spPr>
        <p:txBody>
          <a:bodyPr wrap="square" lIns="0" tIns="0" rIns="0" bIns="0" rtlCol="0" anchor="ctr"/>
          <a:lstStyle/>
          <a:p>
            <a:pPr indent="0" marL="0">
              <a:lnSpc>
                <a:spcPts val="1500"/>
              </a:lnSpc>
              <a:buNone/>
            </a:pPr>
            <a:r>
              <a:rPr lang="en-US" sz="1100" dirty="0">
                <a:solidFill>
                  <a:srgbClr val="1B2A38"/>
                </a:solidFill>
                <a:latin typeface="Calibri" pitchFamily="34" charset="0"/>
                <a:ea typeface="Calibri" pitchFamily="34" charset="-122"/>
                <a:cs typeface="Calibri" pitchFamily="34" charset="-120"/>
              </a:rPr>
              <a:t>Every classification includes the reasoning trail (risk score, matched SOP clause) so officials can see why a ticket was ranked the way it was.</a:t>
            </a:r>
            <a:endParaRPr lang="en-US" sz="1100" dirty="0"/>
          </a:p>
        </p:txBody>
      </p:sp>
      <p:sp>
        <p:nvSpPr>
          <p:cNvPr id="14" name="Shape 10"/>
          <p:cNvSpPr/>
          <p:nvPr/>
        </p:nvSpPr>
        <p:spPr>
          <a:xfrm>
            <a:off x="6089904" y="1554480"/>
            <a:ext cx="2624328" cy="4480560"/>
          </a:xfrm>
          <a:prstGeom prst="roundRect">
            <a:avLst>
              <a:gd name="adj" fmla="val 2787"/>
            </a:avLst>
          </a:prstGeom>
          <a:solidFill>
            <a:srgbClr val="F5F9FA"/>
          </a:solidFill>
          <a:ln/>
        </p:spPr>
      </p:sp>
      <p:sp>
        <p:nvSpPr>
          <p:cNvPr id="15" name="Shape 11"/>
          <p:cNvSpPr/>
          <p:nvPr/>
        </p:nvSpPr>
        <p:spPr>
          <a:xfrm>
            <a:off x="6345936" y="1828800"/>
            <a:ext cx="685800" cy="685800"/>
          </a:xfrm>
          <a:prstGeom prst="ellipse">
            <a:avLst/>
          </a:prstGeom>
          <a:solidFill>
            <a:srgbClr val="C97F12"/>
          </a:solidFill>
          <a:ln/>
        </p:spPr>
      </p:sp>
      <p:pic>
        <p:nvPicPr>
          <p:cNvPr id="16" name="Image 2" descr="icons/handshake.png">    </p:cNvPr>
          <p:cNvPicPr>
            <a:picLocks noChangeAspect="1"/>
          </p:cNvPicPr>
          <p:nvPr/>
        </p:nvPicPr>
        <p:blipFill>
          <a:blip r:embed="rId3"/>
          <a:stretch>
            <a:fillRect/>
          </a:stretch>
        </p:blipFill>
        <p:spPr>
          <a:xfrm>
            <a:off x="6500241" y="1983105"/>
            <a:ext cx="377190" cy="377190"/>
          </a:xfrm>
          <a:prstGeom prst="rect">
            <a:avLst/>
          </a:prstGeom>
        </p:spPr>
      </p:pic>
      <p:sp>
        <p:nvSpPr>
          <p:cNvPr id="17" name="Text 12"/>
          <p:cNvSpPr txBox="1"/>
          <p:nvPr/>
        </p:nvSpPr>
        <p:spPr>
          <a:xfrm>
            <a:off x="6318504" y="2697480"/>
            <a:ext cx="2194560" cy="365760"/>
          </a:xfrm>
          <a:prstGeom prst="rect">
            <a:avLst/>
          </a:prstGeom>
          <a:noFill/>
          <a:ln/>
        </p:spPr>
        <p:txBody>
          <a:bodyPr wrap="square" lIns="0" tIns="0" rIns="0" bIns="0" rtlCol="0" anchor="ctr"/>
          <a:lstStyle/>
          <a:p>
            <a:pPr indent="0" marL="0">
              <a:buNone/>
            </a:pPr>
            <a:r>
              <a:rPr lang="en-US" sz="1500" b="1" dirty="0">
                <a:solidFill>
                  <a:srgbClr val="0B3D62"/>
                </a:solidFill>
                <a:latin typeface="Cambria" pitchFamily="34" charset="0"/>
                <a:ea typeface="Cambria" pitchFamily="34" charset="-122"/>
                <a:cs typeface="Cambria" pitchFamily="34" charset="-120"/>
              </a:rPr>
              <a:t>Ethics</a:t>
            </a:r>
            <a:endParaRPr lang="en-US" sz="1500" dirty="0"/>
          </a:p>
        </p:txBody>
      </p:sp>
      <p:sp>
        <p:nvSpPr>
          <p:cNvPr id="18" name="Text 13"/>
          <p:cNvSpPr txBox="1"/>
          <p:nvPr/>
        </p:nvSpPr>
        <p:spPr>
          <a:xfrm>
            <a:off x="6318504" y="3108960"/>
            <a:ext cx="2194560" cy="2651760"/>
          </a:xfrm>
          <a:prstGeom prst="rect">
            <a:avLst/>
          </a:prstGeom>
          <a:noFill/>
          <a:ln/>
        </p:spPr>
        <p:txBody>
          <a:bodyPr wrap="square" lIns="0" tIns="0" rIns="0" bIns="0" rtlCol="0" anchor="ctr"/>
          <a:lstStyle/>
          <a:p>
            <a:pPr indent="0" marL="0">
              <a:lnSpc>
                <a:spcPts val="1500"/>
              </a:lnSpc>
              <a:buNone/>
            </a:pPr>
            <a:r>
              <a:rPr lang="en-US" sz="1100" dirty="0">
                <a:solidFill>
                  <a:srgbClr val="1B2A38"/>
                </a:solidFill>
                <a:latin typeface="Calibri" pitchFamily="34" charset="0"/>
                <a:ea typeface="Calibri" pitchFamily="34" charset="-122"/>
                <a:cs typeface="Calibri" pitchFamily="34" charset="-120"/>
              </a:rPr>
              <a:t>No ticket is auto-closed or auto-denied by the agent. High-severity and disputed cases are always flagged for human review before action.</a:t>
            </a:r>
            <a:endParaRPr lang="en-US" sz="1100" dirty="0"/>
          </a:p>
        </p:txBody>
      </p:sp>
      <p:sp>
        <p:nvSpPr>
          <p:cNvPr id="19" name="Shape 14"/>
          <p:cNvSpPr/>
          <p:nvPr/>
        </p:nvSpPr>
        <p:spPr>
          <a:xfrm>
            <a:off x="8860536" y="1554480"/>
            <a:ext cx="2624328" cy="4480560"/>
          </a:xfrm>
          <a:prstGeom prst="roundRect">
            <a:avLst>
              <a:gd name="adj" fmla="val 2787"/>
            </a:avLst>
          </a:prstGeom>
          <a:solidFill>
            <a:srgbClr val="F5F9FA"/>
          </a:solidFill>
          <a:ln/>
        </p:spPr>
      </p:sp>
      <p:sp>
        <p:nvSpPr>
          <p:cNvPr id="20" name="Shape 15"/>
          <p:cNvSpPr/>
          <p:nvPr/>
        </p:nvSpPr>
        <p:spPr>
          <a:xfrm>
            <a:off x="9116568" y="1828800"/>
            <a:ext cx="685800" cy="685800"/>
          </a:xfrm>
          <a:prstGeom prst="ellipse">
            <a:avLst/>
          </a:prstGeom>
          <a:solidFill>
            <a:srgbClr val="C0453A"/>
          </a:solidFill>
          <a:ln/>
        </p:spPr>
      </p:sp>
      <p:pic>
        <p:nvPicPr>
          <p:cNvPr id="21" name="Image 3" descr="icons/lock.png">    </p:cNvPr>
          <p:cNvPicPr>
            <a:picLocks noChangeAspect="1"/>
          </p:cNvPicPr>
          <p:nvPr/>
        </p:nvPicPr>
        <p:blipFill>
          <a:blip r:embed="rId4"/>
          <a:stretch>
            <a:fillRect/>
          </a:stretch>
        </p:blipFill>
        <p:spPr>
          <a:xfrm>
            <a:off x="9270873" y="1983105"/>
            <a:ext cx="377190" cy="377190"/>
          </a:xfrm>
          <a:prstGeom prst="rect">
            <a:avLst/>
          </a:prstGeom>
        </p:spPr>
      </p:pic>
      <p:sp>
        <p:nvSpPr>
          <p:cNvPr id="22" name="Text 16"/>
          <p:cNvSpPr txBox="1"/>
          <p:nvPr/>
        </p:nvSpPr>
        <p:spPr>
          <a:xfrm>
            <a:off x="9089136" y="2697480"/>
            <a:ext cx="2194560" cy="365760"/>
          </a:xfrm>
          <a:prstGeom prst="rect">
            <a:avLst/>
          </a:prstGeom>
          <a:noFill/>
          <a:ln/>
        </p:spPr>
        <p:txBody>
          <a:bodyPr wrap="square" lIns="0" tIns="0" rIns="0" bIns="0" rtlCol="0" anchor="ctr"/>
          <a:lstStyle/>
          <a:p>
            <a:pPr indent="0" marL="0">
              <a:buNone/>
            </a:pPr>
            <a:r>
              <a:rPr lang="en-US" sz="1500" b="1" dirty="0">
                <a:solidFill>
                  <a:srgbClr val="0B3D62"/>
                </a:solidFill>
                <a:latin typeface="Cambria" pitchFamily="34" charset="0"/>
                <a:ea typeface="Cambria" pitchFamily="34" charset="-122"/>
                <a:cs typeface="Cambria" pitchFamily="34" charset="-120"/>
              </a:rPr>
              <a:t>Privacy</a:t>
            </a:r>
            <a:endParaRPr lang="en-US" sz="1500" dirty="0"/>
          </a:p>
        </p:txBody>
      </p:sp>
      <p:sp>
        <p:nvSpPr>
          <p:cNvPr id="23" name="Text 17"/>
          <p:cNvSpPr txBox="1"/>
          <p:nvPr/>
        </p:nvSpPr>
        <p:spPr>
          <a:xfrm>
            <a:off x="9089136" y="3108960"/>
            <a:ext cx="2194560" cy="2651760"/>
          </a:xfrm>
          <a:prstGeom prst="rect">
            <a:avLst/>
          </a:prstGeom>
          <a:noFill/>
          <a:ln/>
        </p:spPr>
        <p:txBody>
          <a:bodyPr wrap="square" lIns="0" tIns="0" rIns="0" bIns="0" rtlCol="0" anchor="ctr"/>
          <a:lstStyle/>
          <a:p>
            <a:pPr indent="0" marL="0">
              <a:lnSpc>
                <a:spcPts val="1500"/>
              </a:lnSpc>
              <a:buNone/>
            </a:pPr>
            <a:r>
              <a:rPr lang="en-US" sz="1100" dirty="0">
                <a:solidFill>
                  <a:srgbClr val="1B2A38"/>
                </a:solidFill>
                <a:latin typeface="Calibri" pitchFamily="34" charset="0"/>
                <a:ea typeface="Calibri" pitchFamily="34" charset="-122"/>
                <a:cs typeface="Calibri" pitchFamily="34" charset="-120"/>
              </a:rPr>
              <a:t>Citizen phone numbers and exact addresses are stored separately from AI-processed text and are never used to train or fine-tune models.</a:t>
            </a:r>
            <a:endParaRPr lang="en-US" sz="1100" dirty="0"/>
          </a:p>
        </p:txBody>
      </p:sp>
      <p:sp>
        <p:nvSpPr>
          <p:cNvPr id="24" name="Text 18"/>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25" name="Text 19"/>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84048"/>
            <a:ext cx="7315200" cy="320040"/>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EXPECTED IMPACT</a:t>
            </a:r>
            <a:endParaRPr lang="en-US" sz="1200" dirty="0"/>
          </a:p>
        </p:txBody>
      </p:sp>
      <p:sp>
        <p:nvSpPr>
          <p:cNvPr id="3" name="Text 1"/>
          <p:cNvSpPr txBox="1"/>
          <p:nvPr/>
        </p:nvSpPr>
        <p:spPr>
          <a:xfrm>
            <a:off x="548640" y="658368"/>
            <a:ext cx="10515600" cy="640080"/>
          </a:xfrm>
          <a:prstGeom prst="rect">
            <a:avLst/>
          </a:prstGeom>
          <a:noFill/>
          <a:ln/>
        </p:spPr>
        <p:txBody>
          <a:bodyPr wrap="square" lIns="0" tIns="0" rIns="0" bIns="0" rtlCol="0" anchor="ctr"/>
          <a:lstStyle/>
          <a:p>
            <a:pPr indent="0" marL="0">
              <a:buNone/>
            </a:pPr>
            <a:r>
              <a:rPr lang="en-US" sz="3000" b="1" dirty="0">
                <a:solidFill>
                  <a:srgbClr val="1B2A38"/>
                </a:solidFill>
                <a:latin typeface="Cambria" pitchFamily="34" charset="0"/>
                <a:ea typeface="Cambria" pitchFamily="34" charset="-122"/>
                <a:cs typeface="Cambria" pitchFamily="34" charset="-120"/>
              </a:rPr>
              <a:t>Who Benefits, and How</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3657600"/>
                <a:gridCol w="740664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Stakeholder</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0B3D62"/>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Impact if Implemented</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solidFill>
                      <a:srgbClr val="0B3D62"/>
                    </a:solidFill>
                  </a:tcPr>
                </a:tc>
              </a:tr>
              <a:tr h="777240">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Residents in flood-prone wards</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Earlier awareness of risk, a simple way to report issues, and visible ticket status instead of silence</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777240">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Municipal drainage &amp; disaster-mgmt staff</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Pre-sorted, prioritized tickets instead of manually reading every complaint to judge urgency</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777240">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Ward officers &amp; repair crews</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Clear routing and SOP-backed instructions, reducing time lost figuring out who owns an issue</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r h="777240">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City administration</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c>
                  <a:txBody>
                    <a:bodyPr/>
                    <a:lstStyle/>
                    <a:p>
                      <a:pPr indent="0" marL="0">
                        <a:buNone/>
                      </a:pPr>
                      <a:r>
                        <a:rPr lang="en-US" sz="1200" dirty="0">
                          <a:solidFill>
                            <a:srgbClr val="1B2A38"/>
                          </a:solidFill>
                          <a:latin typeface="Calibri" pitchFamily="34" charset="0"/>
                          <a:ea typeface="Calibri" pitchFamily="34" charset="-122"/>
                          <a:cs typeface="Calibri" pitchFamily="34" charset="-120"/>
                        </a:rPr>
                        <a:t>A growing dataset linking rainfall, terrain and real complaints — useful for long-term drainage investment planning</a:t>
                      </a:r>
                      <a:endParaRPr lang="en-US" sz="1200" dirty="0">
                        <a:latin typeface="Calibri" charset="0"/>
                        <a:ea typeface="Calibri" charset="0"/>
                        <a:cs typeface="Calibri" charset="0"/>
                      </a:endParaRPr>
                    </a:p>
                  </a:txBody>
                  <a:tcPr marL="91440" marR="91440" marT="45720" marB="45720" anchor="ctr">
                    <a:lnL w="12700" cap="flat" cmpd="sng" algn="ctr">
                      <a:solidFill>
                        <a:srgbClr val="DCE6EA"/>
                      </a:solidFill>
                      <a:prstDash val="solid"/>
                      <a:round/>
                      <a:headEnd type="none" w="med" len="med"/>
                      <a:tailEnd type="none" w="med" len="med"/>
                    </a:lnL>
                    <a:lnR w="12700" cap="flat" cmpd="sng" algn="ctr">
                      <a:solidFill>
                        <a:srgbClr val="DCE6EA"/>
                      </a:solidFill>
                      <a:prstDash val="solid"/>
                      <a:round/>
                      <a:headEnd type="none" w="med" len="med"/>
                      <a:tailEnd type="none" w="med" len="med"/>
                    </a:lnR>
                    <a:lnT w="12700" cap="flat" cmpd="sng" algn="ctr">
                      <a:solidFill>
                        <a:srgbClr val="DCE6EA"/>
                      </a:solidFill>
                      <a:prstDash val="solid"/>
                      <a:round/>
                      <a:headEnd type="none" w="med" len="med"/>
                      <a:tailEnd type="none" w="med" len="med"/>
                    </a:lnT>
                    <a:lnB w="12700" cap="flat" cmpd="sng" algn="ctr">
                      <a:solidFill>
                        <a:srgbClr val="DCE6EA"/>
                      </a:solidFill>
                      <a:prstDash val="solid"/>
                      <a:round/>
                      <a:headEnd type="none" w="med" len="med"/>
                      <a:tailEnd type="none" w="med" len="med"/>
                    </a:lnB>
                  </a:tcPr>
                </a:tc>
              </a:tr>
            </a:tbl>
          </a:graphicData>
        </a:graphic>
      </p:graphicFrame>
      <p:sp>
        <p:nvSpPr>
          <p:cNvPr id="5" name="Shape 2"/>
          <p:cNvSpPr/>
          <p:nvPr/>
        </p:nvSpPr>
        <p:spPr>
          <a:xfrm>
            <a:off x="548640" y="5532120"/>
            <a:ext cx="11064240" cy="777240"/>
          </a:xfrm>
          <a:prstGeom prst="roundRect">
            <a:avLst>
              <a:gd name="adj" fmla="val 9412"/>
            </a:avLst>
          </a:prstGeom>
          <a:solidFill>
            <a:srgbClr val="FDF3E4"/>
          </a:solidFill>
          <a:ln w="12700">
            <a:solidFill>
              <a:srgbClr val="F2A93B"/>
            </a:solidFill>
            <a:prstDash val="solid"/>
          </a:ln>
        </p:spPr>
      </p:sp>
      <p:sp>
        <p:nvSpPr>
          <p:cNvPr id="6" name="Text 3"/>
          <p:cNvSpPr txBox="1"/>
          <p:nvPr/>
        </p:nvSpPr>
        <p:spPr>
          <a:xfrm>
            <a:off x="822960" y="5532120"/>
            <a:ext cx="10515600" cy="777240"/>
          </a:xfrm>
          <a:prstGeom prst="rect">
            <a:avLst/>
          </a:prstGeom>
          <a:noFill/>
          <a:ln/>
        </p:spPr>
        <p:txBody>
          <a:bodyPr wrap="square" lIns="0" tIns="0" rIns="0" bIns="0" rtlCol="0" anchor="ctr"/>
          <a:lstStyle/>
          <a:p>
            <a:pPr indent="0" marL="0">
              <a:buNone/>
            </a:pPr>
            <a:r>
              <a:rPr lang="en-US" sz="1100" i="1" dirty="0">
                <a:solidFill>
                  <a:srgbClr val="C97F12"/>
                </a:solidFill>
                <a:latin typeface="Calibri" pitchFamily="34" charset="0"/>
                <a:ea typeface="Calibri" pitchFamily="34" charset="-122"/>
                <a:cs typeface="Calibri" pitchFamily="34" charset="-120"/>
              </a:rPr>
              <a:t>Impact is framed qualitatively at prototype stage — a pilot in one ward would be the next step to validate response-time gains before wider rollout.</a:t>
            </a:r>
            <a:endParaRPr lang="en-US" sz="1100" dirty="0"/>
          </a:p>
        </p:txBody>
      </p:sp>
      <p:sp>
        <p:nvSpPr>
          <p:cNvPr id="7" name="Text 4"/>
          <p:cNvSpPr txBox="1"/>
          <p:nvPr/>
        </p:nvSpPr>
        <p:spPr>
          <a:xfrm>
            <a:off x="457200" y="6473952"/>
            <a:ext cx="8229600" cy="274320"/>
          </a:xfrm>
          <a:prstGeom prst="rect">
            <a:avLst/>
          </a:prstGeom>
          <a:noFill/>
          <a:ln/>
        </p:spPr>
        <p:txBody>
          <a:bodyPr wrap="square" lIns="0" tIns="0" rIns="0" bIns="0" rtlCol="0" anchor="ctr"/>
          <a:lstStyle/>
          <a:p>
            <a:pPr indent="0" marL="0">
              <a:buNone/>
            </a:pPr>
            <a:r>
              <a:rPr lang="en-US" sz="900" dirty="0">
                <a:solidFill>
                  <a:srgbClr val="8A98A3"/>
                </a:solidFill>
                <a:latin typeface="Calibri" pitchFamily="34" charset="0"/>
                <a:ea typeface="Calibri" pitchFamily="34" charset="-122"/>
                <a:cs typeface="Calibri" pitchFamily="34" charset="-120"/>
              </a:rPr>
              <a:t>UrbanGuard AI  |  Dev Kumar  |  KCC Institute of Technology and Management</a:t>
            </a:r>
            <a:endParaRPr lang="en-US" sz="900" dirty="0"/>
          </a:p>
        </p:txBody>
      </p:sp>
      <p:sp>
        <p:nvSpPr>
          <p:cNvPr id="8" name="Text 5"/>
          <p:cNvSpPr txBox="1"/>
          <p:nvPr/>
        </p:nvSpPr>
        <p:spPr>
          <a:xfrm>
            <a:off x="11365992" y="6473952"/>
            <a:ext cx="457200" cy="274320"/>
          </a:xfrm>
          <a:prstGeom prst="rect">
            <a:avLst/>
          </a:prstGeom>
          <a:noFill/>
          <a:ln/>
        </p:spPr>
        <p:txBody>
          <a:bodyPr wrap="square" lIns="0" tIns="0" rIns="0" bIns="0" rtlCol="0" anchor="ctr"/>
          <a:lstStyle/>
          <a:p>
            <a:pPr algn="r" indent="0" marL="0">
              <a:buNone/>
            </a:pPr>
            <a:r>
              <a:rPr lang="en-US" sz="900" dirty="0">
                <a:solidFill>
                  <a:srgbClr val="8A98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3D62"/>
        </a:solidFill>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082C48"/>
          </a:solidFill>
          <a:ln/>
        </p:spPr>
      </p:sp>
      <p:sp>
        <p:nvSpPr>
          <p:cNvPr id="3" name="Shape 1"/>
          <p:cNvSpPr/>
          <p:nvPr/>
        </p:nvSpPr>
        <p:spPr>
          <a:xfrm>
            <a:off x="9601200" y="4114800"/>
            <a:ext cx="5029200" cy="5029200"/>
          </a:xfrm>
          <a:prstGeom prst="ellipse">
            <a:avLst/>
          </a:prstGeom>
          <a:solidFill>
            <a:srgbClr val="082C48"/>
          </a:solidFill>
          <a:ln/>
        </p:spPr>
      </p:sp>
      <p:sp>
        <p:nvSpPr>
          <p:cNvPr id="4" name="Text 2"/>
          <p:cNvSpPr txBox="1"/>
          <p:nvPr/>
        </p:nvSpPr>
        <p:spPr>
          <a:xfrm>
            <a:off x="731520" y="685800"/>
            <a:ext cx="5486400" cy="320040"/>
          </a:xfrm>
          <a:prstGeom prst="rect">
            <a:avLst/>
          </a:prstGeom>
          <a:noFill/>
          <a:ln/>
        </p:spPr>
        <p:txBody>
          <a:bodyPr wrap="square" lIns="0" tIns="0" rIns="0" bIns="0" rtlCol="0" anchor="ctr"/>
          <a:lstStyle/>
          <a:p>
            <a:pPr indent="0" marL="0">
              <a:buNone/>
            </a:pPr>
            <a:r>
              <a:rPr lang="en-US" sz="1200" b="1" spc="200" kern="0" dirty="0">
                <a:solidFill>
                  <a:srgbClr val="F2A93B"/>
                </a:solidFill>
                <a:latin typeface="Calibri" pitchFamily="34" charset="0"/>
                <a:ea typeface="Calibri" pitchFamily="34" charset="-122"/>
                <a:cs typeface="Calibri" pitchFamily="34" charset="-120"/>
              </a:rPr>
              <a:t>KEY TAKEAWAY</a:t>
            </a:r>
            <a:endParaRPr lang="en-US" sz="1200" dirty="0"/>
          </a:p>
        </p:txBody>
      </p:sp>
      <p:sp>
        <p:nvSpPr>
          <p:cNvPr id="5" name="Text 3"/>
          <p:cNvSpPr txBox="1"/>
          <p:nvPr/>
        </p:nvSpPr>
        <p:spPr>
          <a:xfrm>
            <a:off x="731520" y="1097280"/>
            <a:ext cx="1051560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This project isn't about solving every city's flood problem.</a:t>
            </a:r>
            <a:endParaRPr lang="en-US" sz="2400" dirty="0"/>
          </a:p>
        </p:txBody>
      </p:sp>
      <p:sp>
        <p:nvSpPr>
          <p:cNvPr id="6" name="Text 4"/>
          <p:cNvSpPr txBox="1"/>
          <p:nvPr/>
        </p:nvSpPr>
        <p:spPr>
          <a:xfrm>
            <a:off x="731520" y="1737360"/>
            <a:ext cx="9601200" cy="548640"/>
          </a:xfrm>
          <a:prstGeom prst="rect">
            <a:avLst/>
          </a:prstGeom>
          <a:noFill/>
          <a:ln/>
        </p:spPr>
        <p:txBody>
          <a:bodyPr wrap="square" lIns="0" tIns="0" rIns="0" bIns="0" rtlCol="0" anchor="ctr"/>
          <a:lstStyle/>
          <a:p>
            <a:pPr indent="0" marL="0">
              <a:lnSpc>
                <a:spcPts val="2000"/>
              </a:lnSpc>
              <a:buNone/>
            </a:pPr>
            <a:r>
              <a:rPr lang="en-US" sz="1500" dirty="0">
                <a:solidFill>
                  <a:srgbClr val="CADCEB"/>
                </a:solidFill>
                <a:latin typeface="Calibri" pitchFamily="34" charset="0"/>
                <a:ea typeface="Calibri" pitchFamily="34" charset="-122"/>
                <a:cs typeface="Calibri" pitchFamily="34" charset="-120"/>
              </a:rPr>
              <a:t>It's about thinking critically, applying AI responsibly, designing with purpose, and building for real impact.</a:t>
            </a:r>
            <a:endParaRPr lang="en-US" sz="1500" dirty="0"/>
          </a:p>
        </p:txBody>
      </p:sp>
      <p:sp>
        <p:nvSpPr>
          <p:cNvPr id="7" name="Shape 5"/>
          <p:cNvSpPr/>
          <p:nvPr/>
        </p:nvSpPr>
        <p:spPr>
          <a:xfrm>
            <a:off x="731520" y="2514600"/>
            <a:ext cx="1993392" cy="502920"/>
          </a:xfrm>
          <a:prstGeom prst="roundRect">
            <a:avLst>
              <a:gd name="adj" fmla="val 50909"/>
            </a:avLst>
          </a:prstGeom>
          <a:solidFill>
            <a:srgbClr val="1C7293"/>
          </a:solidFill>
          <a:ln/>
        </p:spPr>
      </p:sp>
      <p:sp>
        <p:nvSpPr>
          <p:cNvPr id="8" name="Text 6"/>
          <p:cNvSpPr txBox="1"/>
          <p:nvPr/>
        </p:nvSpPr>
        <p:spPr>
          <a:xfrm>
            <a:off x="731520" y="2514600"/>
            <a:ext cx="19933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Think critically</a:t>
            </a:r>
            <a:endParaRPr lang="en-US" sz="1200" dirty="0"/>
          </a:p>
        </p:txBody>
      </p:sp>
      <p:sp>
        <p:nvSpPr>
          <p:cNvPr id="9" name="Shape 7"/>
          <p:cNvSpPr/>
          <p:nvPr/>
        </p:nvSpPr>
        <p:spPr>
          <a:xfrm>
            <a:off x="2907792" y="2514600"/>
            <a:ext cx="2377440" cy="502920"/>
          </a:xfrm>
          <a:prstGeom prst="roundRect">
            <a:avLst>
              <a:gd name="adj" fmla="val 50909"/>
            </a:avLst>
          </a:prstGeom>
          <a:solidFill>
            <a:srgbClr val="1C7293"/>
          </a:solidFill>
          <a:ln/>
        </p:spPr>
      </p:sp>
      <p:sp>
        <p:nvSpPr>
          <p:cNvPr id="10" name="Text 8"/>
          <p:cNvSpPr txBox="1"/>
          <p:nvPr/>
        </p:nvSpPr>
        <p:spPr>
          <a:xfrm>
            <a:off x="2907792" y="2514600"/>
            <a:ext cx="237744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Apply AI responsibly</a:t>
            </a:r>
            <a:endParaRPr lang="en-US" sz="1200" dirty="0"/>
          </a:p>
        </p:txBody>
      </p:sp>
      <p:sp>
        <p:nvSpPr>
          <p:cNvPr id="11" name="Shape 9"/>
          <p:cNvSpPr/>
          <p:nvPr/>
        </p:nvSpPr>
        <p:spPr>
          <a:xfrm>
            <a:off x="5468112" y="2514600"/>
            <a:ext cx="2281428" cy="502920"/>
          </a:xfrm>
          <a:prstGeom prst="roundRect">
            <a:avLst>
              <a:gd name="adj" fmla="val 50909"/>
            </a:avLst>
          </a:prstGeom>
          <a:solidFill>
            <a:srgbClr val="1C7293"/>
          </a:solidFill>
          <a:ln/>
        </p:spPr>
      </p:sp>
      <p:sp>
        <p:nvSpPr>
          <p:cNvPr id="12" name="Text 10"/>
          <p:cNvSpPr txBox="1"/>
          <p:nvPr/>
        </p:nvSpPr>
        <p:spPr>
          <a:xfrm>
            <a:off x="5468112" y="2514600"/>
            <a:ext cx="2281428"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Design with purpose</a:t>
            </a:r>
            <a:endParaRPr lang="en-US" sz="1200" dirty="0"/>
          </a:p>
        </p:txBody>
      </p:sp>
      <p:sp>
        <p:nvSpPr>
          <p:cNvPr id="13" name="Shape 11"/>
          <p:cNvSpPr/>
          <p:nvPr/>
        </p:nvSpPr>
        <p:spPr>
          <a:xfrm>
            <a:off x="7932420" y="2514600"/>
            <a:ext cx="1993392" cy="502920"/>
          </a:xfrm>
          <a:prstGeom prst="roundRect">
            <a:avLst>
              <a:gd name="adj" fmla="val 50909"/>
            </a:avLst>
          </a:prstGeom>
          <a:solidFill>
            <a:srgbClr val="1C7293"/>
          </a:solidFill>
          <a:ln/>
        </p:spPr>
      </p:sp>
      <p:sp>
        <p:nvSpPr>
          <p:cNvPr id="14" name="Text 12"/>
          <p:cNvSpPr txBox="1"/>
          <p:nvPr/>
        </p:nvSpPr>
        <p:spPr>
          <a:xfrm>
            <a:off x="7932420" y="2514600"/>
            <a:ext cx="1993392"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Build for impact</a:t>
            </a:r>
            <a:endParaRPr lang="en-US" sz="1200" dirty="0"/>
          </a:p>
        </p:txBody>
      </p:sp>
      <p:sp>
        <p:nvSpPr>
          <p:cNvPr id="15" name="Shape 13"/>
          <p:cNvSpPr/>
          <p:nvPr/>
        </p:nvSpPr>
        <p:spPr>
          <a:xfrm>
            <a:off x="731520" y="3383280"/>
            <a:ext cx="10698480" cy="0"/>
          </a:xfrm>
          <a:prstGeom prst="line">
            <a:avLst/>
          </a:prstGeom>
          <a:noFill/>
          <a:ln w="12700">
            <a:solidFill>
              <a:srgbClr val="27547A"/>
            </a:solidFill>
            <a:prstDash val="solid"/>
          </a:ln>
        </p:spPr>
      </p:sp>
      <p:sp>
        <p:nvSpPr>
          <p:cNvPr id="16" name="Shape 14"/>
          <p:cNvSpPr/>
          <p:nvPr/>
        </p:nvSpPr>
        <p:spPr>
          <a:xfrm>
            <a:off x="731520" y="3703320"/>
            <a:ext cx="731520" cy="731520"/>
          </a:xfrm>
          <a:prstGeom prst="ellipse">
            <a:avLst/>
          </a:prstGeom>
          <a:solidFill>
            <a:srgbClr val="1C7293"/>
          </a:solidFill>
          <a:ln/>
        </p:spPr>
      </p:sp>
      <p:pic>
        <p:nvPicPr>
          <p:cNvPr id="17" name="Image 0" descr="icons/water.png">    </p:cNvPr>
          <p:cNvPicPr>
            <a:picLocks noChangeAspect="1"/>
          </p:cNvPicPr>
          <p:nvPr/>
        </p:nvPicPr>
        <p:blipFill>
          <a:blip r:embed="rId1"/>
          <a:stretch>
            <a:fillRect/>
          </a:stretch>
        </p:blipFill>
        <p:spPr>
          <a:xfrm>
            <a:off x="896112" y="3867912"/>
            <a:ext cx="402336" cy="402336"/>
          </a:xfrm>
          <a:prstGeom prst="rect">
            <a:avLst/>
          </a:prstGeom>
        </p:spPr>
      </p:pic>
      <p:sp>
        <p:nvSpPr>
          <p:cNvPr id="18" name="Text 15"/>
          <p:cNvSpPr txBox="1"/>
          <p:nvPr/>
        </p:nvSpPr>
        <p:spPr>
          <a:xfrm>
            <a:off x="1691640" y="3749040"/>
            <a:ext cx="54864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UrbanGuard AI</a:t>
            </a:r>
            <a:endParaRPr lang="en-US" sz="2200" dirty="0"/>
          </a:p>
        </p:txBody>
      </p:sp>
      <p:sp>
        <p:nvSpPr>
          <p:cNvPr id="19" name="Text 16"/>
          <p:cNvSpPr txBox="1"/>
          <p:nvPr/>
        </p:nvSpPr>
        <p:spPr>
          <a:xfrm>
            <a:off x="1691640" y="4206240"/>
            <a:ext cx="7315200" cy="365760"/>
          </a:xfrm>
          <a:prstGeom prst="rect">
            <a:avLst/>
          </a:prstGeom>
          <a:noFill/>
          <a:ln/>
        </p:spPr>
        <p:txBody>
          <a:bodyPr wrap="square" lIns="0" tIns="0" rIns="0" bIns="0" rtlCol="0" anchor="ctr"/>
          <a:lstStyle/>
          <a:p>
            <a:pPr indent="0" marL="0">
              <a:buNone/>
            </a:pPr>
            <a:r>
              <a:rPr lang="en-US" sz="1250" dirty="0">
                <a:solidFill>
                  <a:srgbClr val="AFC6D8"/>
                </a:solidFill>
                <a:latin typeface="Calibri" pitchFamily="34" charset="0"/>
                <a:ea typeface="Calibri" pitchFamily="34" charset="-122"/>
                <a:cs typeface="Calibri" pitchFamily="34" charset="-120"/>
              </a:rPr>
              <a:t>Smart Flood Risk Prediction &amp; Civic Grievance Assistant for Sustainable Cities</a:t>
            </a:r>
            <a:endParaRPr lang="en-US" sz="1250" dirty="0"/>
          </a:p>
        </p:txBody>
      </p:sp>
      <p:sp>
        <p:nvSpPr>
          <p:cNvPr id="20" name="Text 17"/>
          <p:cNvSpPr txBox="1"/>
          <p:nvPr/>
        </p:nvSpPr>
        <p:spPr>
          <a:xfrm>
            <a:off x="731520" y="5029200"/>
            <a:ext cx="7315200" cy="320040"/>
          </a:xfrm>
          <a:prstGeom prst="rect">
            <a:avLst/>
          </a:prstGeom>
          <a:noFill/>
          <a:ln/>
        </p:spPr>
        <p:txBody>
          <a:bodyPr wrap="square" lIns="0" tIns="0" rIns="0" bIns="0" rtlCol="0" anchor="ctr"/>
          <a:lstStyle/>
          <a:p>
            <a:pPr indent="0" marL="0">
              <a:buNone/>
            </a:pPr>
            <a:r>
              <a:rPr lang="en-US" sz="1200" dirty="0">
                <a:solidFill>
                  <a:srgbClr val="8FA6BA"/>
                </a:solidFill>
                <a:latin typeface="Calibri" pitchFamily="34" charset="0"/>
                <a:ea typeface="Calibri" pitchFamily="34" charset="-122"/>
                <a:cs typeface="Calibri" pitchFamily="34" charset="-120"/>
              </a:rPr>
              <a:t>Submitted for: 1M1B AI for Sustainability Virtual Internship (IBM SkillsBuild &amp; AICTE)</a:t>
            </a:r>
            <a:endParaRPr lang="en-US" sz="1200" dirty="0"/>
          </a:p>
        </p:txBody>
      </p:sp>
      <p:sp>
        <p:nvSpPr>
          <p:cNvPr id="21" name="Text 18"/>
          <p:cNvSpPr txBox="1"/>
          <p:nvPr/>
        </p:nvSpPr>
        <p:spPr>
          <a:xfrm>
            <a:off x="731520" y="5394960"/>
            <a:ext cx="7315200" cy="731520"/>
          </a:xfrm>
          <a:prstGeom prst="rect">
            <a:avLst/>
          </a:prstGeom>
          <a:noFill/>
          <a:ln/>
        </p:spPr>
        <p:txBody>
          <a:bodyPr wrap="square" lIns="0" tIns="0" rIns="0" bIns="0" rtlCol="0" anchor="ctr"/>
          <a:lstStyle/>
          <a:p>
            <a:pPr indent="0" marL="0">
              <a:lnSpc>
                <a:spcPts val="2000"/>
              </a:lnSpc>
              <a:buNone/>
            </a:pPr>
            <a:r>
              <a:rPr lang="en-US" sz="1600" b="1" dirty="0">
                <a:solidFill>
                  <a:srgbClr val="FFFFFF"/>
                </a:solidFill>
                <a:latin typeface="Calibri" pitchFamily="34" charset="0"/>
                <a:ea typeface="Calibri" pitchFamily="34" charset="-122"/>
                <a:cs typeface="Calibri" pitchFamily="34" charset="-120"/>
              </a:rPr>
              <a:t>Dev Kumar</a:t>
            </a:r>
            <a:pPr indent="0" marL="0">
              <a:lnSpc>
                <a:spcPts val="2000"/>
              </a:lnSpc>
              <a:buNone/>
            </a:pPr>
            <a:endParaRPr lang="en-US" sz="1600" dirty="0"/>
          </a:p>
          <a:p>
            <a:pPr indent="0" marL="0">
              <a:lnSpc>
                <a:spcPts val="2000"/>
              </a:lnSpc>
              <a:buNone/>
            </a:pPr>
            <a:r>
              <a:rPr lang="en-US" sz="1300" dirty="0">
                <a:solidFill>
                  <a:srgbClr val="CADCEB"/>
                </a:solidFill>
                <a:latin typeface="Calibri" pitchFamily="34" charset="0"/>
                <a:ea typeface="Calibri" pitchFamily="34" charset="-122"/>
                <a:cs typeface="Calibri" pitchFamily="34" charset="-120"/>
              </a:rPr>
              <a:t>KCC Institute of Technology and Management</a:t>
            </a:r>
            <a:endParaRPr lang="en-US" sz="1600" dirty="0"/>
          </a:p>
        </p:txBody>
      </p:sp>
      <p:sp>
        <p:nvSpPr>
          <p:cNvPr id="22" name="Text 19"/>
          <p:cNvSpPr txBox="1"/>
          <p:nvPr/>
        </p:nvSpPr>
        <p:spPr>
          <a:xfrm>
            <a:off x="8412480" y="5852160"/>
            <a:ext cx="3017520" cy="457200"/>
          </a:xfrm>
          <a:prstGeom prst="rect">
            <a:avLst/>
          </a:prstGeom>
          <a:noFill/>
          <a:ln/>
        </p:spPr>
        <p:txBody>
          <a:bodyPr wrap="square" lIns="0" tIns="0" rIns="0" bIns="0" rtlCol="0" anchor="ctr"/>
          <a:lstStyle/>
          <a:p>
            <a:pPr algn="r" indent="0" marL="0">
              <a:buNone/>
            </a:pPr>
            <a:r>
              <a:rPr lang="en-US" sz="2000" b="1" i="1" dirty="0">
                <a:solidFill>
                  <a:srgbClr val="F2A93B"/>
                </a:solidFill>
                <a:latin typeface="Cambria" pitchFamily="34" charset="0"/>
                <a:ea typeface="Cambria" pitchFamily="34" charset="-122"/>
                <a:cs typeface="Cambria" pitchFamily="34" charset="-120"/>
              </a:rPr>
              <a:t>Thank You</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2026-09-05T09:22:15Z</dcterms:created>
  <dcterms:modified xsi:type="dcterms:W3CDTF">2026-09-05T09:22:15Z</dcterms:modified>
</cp:coreProperties>
</file>